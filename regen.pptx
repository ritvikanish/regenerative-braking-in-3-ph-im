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lmarai" panose="020B0604020202020204" charset="-78"/>
      <p:regular r:id="rId12"/>
    </p:embeddedFont>
    <p:embeddedFont>
      <p:font typeface="Calibri" panose="020F0502020204030204" pitchFamily="34" charset="0"/>
      <p:regular r:id="rId13"/>
      <p:bold r:id="rId14"/>
      <p:italic r:id="rId15"/>
      <p:boldItalic r:id="rId16"/>
    </p:embeddedFont>
    <p:embeddedFont>
      <p:font typeface="Almarai Bold" panose="020B0604020202020204" charset="-78"/>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2" d="100"/>
          <a:sy n="42" d="100"/>
        </p:scale>
        <p:origin x="780"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7.pn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14565940" y="-491592"/>
            <a:ext cx="8754599" cy="8754599"/>
          </a:xfrm>
          <a:custGeom>
            <a:avLst/>
            <a:gdLst/>
            <a:ahLst/>
            <a:cxnLst/>
            <a:rect l="l" t="t" r="r" b="b"/>
            <a:pathLst>
              <a:path w="8754599" h="8754599">
                <a:moveTo>
                  <a:pt x="0" y="0"/>
                </a:moveTo>
                <a:lnTo>
                  <a:pt x="8754598" y="0"/>
                </a:lnTo>
                <a:lnTo>
                  <a:pt x="8754598" y="8754599"/>
                </a:lnTo>
                <a:lnTo>
                  <a:pt x="0" y="875459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a:off x="12201419" y="5061812"/>
            <a:ext cx="5246522" cy="7495031"/>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stretch>
                <a:fillRect l="-57142" r="-57142"/>
              </a:stretch>
            </a:blipFill>
          </p:spPr>
        </p:sp>
      </p:grpSp>
      <p:grpSp>
        <p:nvGrpSpPr>
          <p:cNvPr id="5" name="Group 5"/>
          <p:cNvGrpSpPr/>
          <p:nvPr/>
        </p:nvGrpSpPr>
        <p:grpSpPr>
          <a:xfrm rot="-10800000">
            <a:off x="12201419" y="5061812"/>
            <a:ext cx="5246522" cy="7495031"/>
            <a:chOff x="0" y="0"/>
            <a:chExt cx="4445000" cy="6350000"/>
          </a:xfrm>
        </p:grpSpPr>
        <p:sp>
          <p:nvSpPr>
            <p:cNvPr id="6" name="Freeform 6"/>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r="-201730"/>
              </a:stretch>
            </a:blipFill>
          </p:spPr>
        </p:sp>
      </p:grpSp>
      <p:grpSp>
        <p:nvGrpSpPr>
          <p:cNvPr id="7" name="Group 7"/>
          <p:cNvGrpSpPr/>
          <p:nvPr/>
        </p:nvGrpSpPr>
        <p:grpSpPr>
          <a:xfrm rot="-10800000">
            <a:off x="9144000" y="6196748"/>
            <a:ext cx="2564685" cy="3663835"/>
            <a:chOff x="0" y="0"/>
            <a:chExt cx="4445000" cy="6350000"/>
          </a:xfrm>
        </p:grpSpPr>
        <p:sp>
          <p:nvSpPr>
            <p:cNvPr id="8" name="Freeform 8"/>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r="-201730"/>
              </a:stretch>
            </a:blipFill>
          </p:spPr>
        </p:sp>
      </p:grpSp>
      <p:grpSp>
        <p:nvGrpSpPr>
          <p:cNvPr id="9" name="Group 9"/>
          <p:cNvGrpSpPr/>
          <p:nvPr/>
        </p:nvGrpSpPr>
        <p:grpSpPr>
          <a:xfrm>
            <a:off x="15763958" y="-781916"/>
            <a:ext cx="1683983" cy="2405689"/>
            <a:chOff x="0" y="0"/>
            <a:chExt cx="4445000" cy="6350000"/>
          </a:xfrm>
        </p:grpSpPr>
        <p:sp>
          <p:nvSpPr>
            <p:cNvPr id="10" name="Freeform 10"/>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r="-201730"/>
              </a:stretch>
            </a:blipFill>
          </p:spPr>
        </p:sp>
      </p:grpSp>
      <p:grpSp>
        <p:nvGrpSpPr>
          <p:cNvPr id="11" name="Group 11"/>
          <p:cNvGrpSpPr/>
          <p:nvPr/>
        </p:nvGrpSpPr>
        <p:grpSpPr>
          <a:xfrm>
            <a:off x="8805262" y="-3450194"/>
            <a:ext cx="6752859" cy="9646942"/>
            <a:chOff x="0" y="0"/>
            <a:chExt cx="4445000" cy="6350000"/>
          </a:xfrm>
        </p:grpSpPr>
        <p:sp>
          <p:nvSpPr>
            <p:cNvPr id="12" name="Freeform 12"/>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6"/>
              <a:stretch>
                <a:fillRect l="-21428" r="-21428"/>
              </a:stretch>
            </a:blipFill>
          </p:spPr>
        </p:sp>
      </p:grpSp>
      <p:grpSp>
        <p:nvGrpSpPr>
          <p:cNvPr id="13" name="Group 13"/>
          <p:cNvGrpSpPr/>
          <p:nvPr/>
        </p:nvGrpSpPr>
        <p:grpSpPr>
          <a:xfrm>
            <a:off x="8805262" y="-3450194"/>
            <a:ext cx="6752859" cy="9646942"/>
            <a:chOff x="0" y="0"/>
            <a:chExt cx="4445000" cy="6350000"/>
          </a:xfrm>
        </p:grpSpPr>
        <p:sp>
          <p:nvSpPr>
            <p:cNvPr id="14" name="Freeform 1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r="-201730"/>
              </a:stretch>
            </a:blipFill>
          </p:spPr>
        </p:sp>
      </p:grpSp>
      <p:grpSp>
        <p:nvGrpSpPr>
          <p:cNvPr id="15" name="Group 15"/>
          <p:cNvGrpSpPr/>
          <p:nvPr/>
        </p:nvGrpSpPr>
        <p:grpSpPr>
          <a:xfrm rot="5400000">
            <a:off x="16605949" y="3464712"/>
            <a:ext cx="841991" cy="841991"/>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26211" r="-126211"/>
              </a:stretch>
            </a:blipFill>
          </p:spPr>
        </p:sp>
      </p:grpSp>
      <p:sp>
        <p:nvSpPr>
          <p:cNvPr id="17" name="Freeform 17"/>
          <p:cNvSpPr/>
          <p:nvPr/>
        </p:nvSpPr>
        <p:spPr>
          <a:xfrm>
            <a:off x="-5976625" y="4306703"/>
            <a:ext cx="8754599" cy="8754599"/>
          </a:xfrm>
          <a:custGeom>
            <a:avLst/>
            <a:gdLst/>
            <a:ahLst/>
            <a:cxnLst/>
            <a:rect l="l" t="t" r="r" b="b"/>
            <a:pathLst>
              <a:path w="8754599" h="8754599">
                <a:moveTo>
                  <a:pt x="0" y="0"/>
                </a:moveTo>
                <a:lnTo>
                  <a:pt x="8754599" y="0"/>
                </a:lnTo>
                <a:lnTo>
                  <a:pt x="8754599" y="8754599"/>
                </a:lnTo>
                <a:lnTo>
                  <a:pt x="0" y="875459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8" name="TextBox 18"/>
          <p:cNvSpPr txBox="1"/>
          <p:nvPr/>
        </p:nvSpPr>
        <p:spPr>
          <a:xfrm>
            <a:off x="1367438" y="7582244"/>
            <a:ext cx="7776562" cy="446421"/>
          </a:xfrm>
          <a:prstGeom prst="rect">
            <a:avLst/>
          </a:prstGeom>
        </p:spPr>
        <p:txBody>
          <a:bodyPr lIns="0" tIns="0" rIns="0" bIns="0" rtlCol="0" anchor="t">
            <a:spAutoFit/>
          </a:bodyPr>
          <a:lstStyle/>
          <a:p>
            <a:pPr marL="0" lvl="0" indent="0" algn="l">
              <a:lnSpc>
                <a:spcPts val="3479"/>
              </a:lnSpc>
              <a:spcBef>
                <a:spcPct val="0"/>
              </a:spcBef>
            </a:pPr>
            <a:r>
              <a:rPr lang="en-US" sz="2829">
                <a:solidFill>
                  <a:srgbClr val="FFFFFF"/>
                </a:solidFill>
                <a:latin typeface="Almarai"/>
                <a:ea typeface="Almarai"/>
                <a:cs typeface="Almarai"/>
                <a:sym typeface="Almarai"/>
              </a:rPr>
              <a:t>-A  HARDWARE MODEL DEMONSTRATION</a:t>
            </a:r>
          </a:p>
        </p:txBody>
      </p:sp>
      <p:sp>
        <p:nvSpPr>
          <p:cNvPr id="19" name="TextBox 19"/>
          <p:cNvSpPr txBox="1"/>
          <p:nvPr/>
        </p:nvSpPr>
        <p:spPr>
          <a:xfrm>
            <a:off x="1028700" y="2134001"/>
            <a:ext cx="7100450" cy="4585405"/>
          </a:xfrm>
          <a:prstGeom prst="rect">
            <a:avLst/>
          </a:prstGeom>
        </p:spPr>
        <p:txBody>
          <a:bodyPr lIns="0" tIns="0" rIns="0" bIns="0" rtlCol="0" anchor="t">
            <a:spAutoFit/>
          </a:bodyPr>
          <a:lstStyle/>
          <a:p>
            <a:pPr algn="l">
              <a:lnSpc>
                <a:spcPts val="7172"/>
              </a:lnSpc>
            </a:pPr>
            <a:r>
              <a:rPr lang="en-US" sz="5977" b="1">
                <a:solidFill>
                  <a:srgbClr val="FFFFFF"/>
                </a:solidFill>
                <a:latin typeface="Almarai Bold"/>
                <a:ea typeface="Almarai Bold"/>
                <a:cs typeface="Almarai Bold"/>
                <a:sym typeface="Almarai Bold"/>
              </a:rPr>
              <a:t>REGENERATIVE BRAKING SYSTEM USING 3-PHASE IINDUCTION MOTOR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17259300" y="2066886"/>
            <a:ext cx="5754080" cy="8220114"/>
            <a:chOff x="0" y="0"/>
            <a:chExt cx="4445000" cy="6350000"/>
          </a:xfrm>
        </p:grpSpPr>
        <p:sp>
          <p:nvSpPr>
            <p:cNvPr id="3" name="Freeform 3"/>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grpSp>
        <p:nvGrpSpPr>
          <p:cNvPr id="4" name="Group 4"/>
          <p:cNvGrpSpPr/>
          <p:nvPr/>
        </p:nvGrpSpPr>
        <p:grpSpPr>
          <a:xfrm>
            <a:off x="-5173055" y="-2043171"/>
            <a:ext cx="5754080" cy="8220114"/>
            <a:chOff x="0" y="0"/>
            <a:chExt cx="4445000" cy="6350000"/>
          </a:xfrm>
        </p:grpSpPr>
        <p:sp>
          <p:nvSpPr>
            <p:cNvPr id="5" name="Freeform 5"/>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grpSp>
        <p:nvGrpSpPr>
          <p:cNvPr id="6" name="Group 6"/>
          <p:cNvGrpSpPr/>
          <p:nvPr/>
        </p:nvGrpSpPr>
        <p:grpSpPr>
          <a:xfrm>
            <a:off x="1028700" y="1028700"/>
            <a:ext cx="5760720" cy="8229600"/>
            <a:chOff x="0" y="0"/>
            <a:chExt cx="4445000" cy="6350000"/>
          </a:xfrm>
        </p:grpSpPr>
        <p:sp>
          <p:nvSpPr>
            <p:cNvPr id="7" name="Freeform 7"/>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alphaModFix amt="24000"/>
              </a:blip>
              <a:stretch>
                <a:fillRect l="-57411" r="-57411"/>
              </a:stretch>
            </a:blipFill>
          </p:spPr>
        </p:sp>
      </p:grpSp>
      <p:grpSp>
        <p:nvGrpSpPr>
          <p:cNvPr id="8" name="Group 8"/>
          <p:cNvGrpSpPr/>
          <p:nvPr/>
        </p:nvGrpSpPr>
        <p:grpSpPr>
          <a:xfrm rot="-10800000">
            <a:off x="1028700" y="1028700"/>
            <a:ext cx="5760720" cy="8229600"/>
            <a:chOff x="0" y="0"/>
            <a:chExt cx="4445000" cy="6350000"/>
          </a:xfrm>
        </p:grpSpPr>
        <p:sp>
          <p:nvSpPr>
            <p:cNvPr id="9" name="Freeform 9"/>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sp>
        <p:nvSpPr>
          <p:cNvPr id="10" name="TextBox 10"/>
          <p:cNvSpPr txBox="1"/>
          <p:nvPr/>
        </p:nvSpPr>
        <p:spPr>
          <a:xfrm>
            <a:off x="1853355" y="4653079"/>
            <a:ext cx="4646929" cy="971318"/>
          </a:xfrm>
          <a:prstGeom prst="rect">
            <a:avLst/>
          </a:prstGeom>
        </p:spPr>
        <p:txBody>
          <a:bodyPr lIns="0" tIns="0" rIns="0" bIns="0" rtlCol="0" anchor="t">
            <a:spAutoFit/>
          </a:bodyPr>
          <a:lstStyle/>
          <a:p>
            <a:pPr marL="0" lvl="0" indent="0" algn="l">
              <a:lnSpc>
                <a:spcPts val="7602"/>
              </a:lnSpc>
              <a:spcBef>
                <a:spcPct val="0"/>
              </a:spcBef>
            </a:pPr>
            <a:r>
              <a:rPr lang="en-US" sz="6335" b="1">
                <a:solidFill>
                  <a:srgbClr val="FFFFFF"/>
                </a:solidFill>
                <a:latin typeface="Almarai Bold"/>
                <a:ea typeface="Almarai Bold"/>
                <a:cs typeface="Almarai Bold"/>
                <a:sym typeface="Almarai Bold"/>
              </a:rPr>
              <a:t>OVERVIEW</a:t>
            </a:r>
          </a:p>
        </p:txBody>
      </p:sp>
      <p:sp>
        <p:nvSpPr>
          <p:cNvPr id="11" name="TextBox 11"/>
          <p:cNvSpPr txBox="1"/>
          <p:nvPr/>
        </p:nvSpPr>
        <p:spPr>
          <a:xfrm>
            <a:off x="11310800" y="3578351"/>
            <a:ext cx="3045870" cy="541448"/>
          </a:xfrm>
          <a:prstGeom prst="rect">
            <a:avLst/>
          </a:prstGeom>
        </p:spPr>
        <p:txBody>
          <a:bodyPr lIns="0" tIns="0" rIns="0" bIns="0" rtlCol="0" anchor="t">
            <a:spAutoFit/>
          </a:bodyPr>
          <a:lstStyle/>
          <a:p>
            <a:pPr algn="ctr">
              <a:lnSpc>
                <a:spcPts val="4264"/>
              </a:lnSpc>
            </a:pPr>
            <a:r>
              <a:rPr lang="en-US" sz="3090" b="1">
                <a:solidFill>
                  <a:srgbClr val="FFFFFF"/>
                </a:solidFill>
                <a:latin typeface="Almarai Bold"/>
                <a:ea typeface="Almarai Bold"/>
                <a:cs typeface="Almarai Bold"/>
                <a:sym typeface="Almarai Bold"/>
              </a:rPr>
              <a:t>COMPONENTS</a:t>
            </a:r>
          </a:p>
        </p:txBody>
      </p:sp>
      <p:grpSp>
        <p:nvGrpSpPr>
          <p:cNvPr id="12" name="Group 12"/>
          <p:cNvGrpSpPr/>
          <p:nvPr/>
        </p:nvGrpSpPr>
        <p:grpSpPr>
          <a:xfrm rot="5400000">
            <a:off x="12207924" y="1708206"/>
            <a:ext cx="1634859" cy="163485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grpSp>
        <p:nvGrpSpPr>
          <p:cNvPr id="14" name="Group 14"/>
          <p:cNvGrpSpPr/>
          <p:nvPr/>
        </p:nvGrpSpPr>
        <p:grpSpPr>
          <a:xfrm rot="5400000">
            <a:off x="12207924" y="4912343"/>
            <a:ext cx="1634859" cy="163485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grpSp>
        <p:nvGrpSpPr>
          <p:cNvPr id="16" name="Group 16"/>
          <p:cNvGrpSpPr/>
          <p:nvPr/>
        </p:nvGrpSpPr>
        <p:grpSpPr>
          <a:xfrm rot="5400000">
            <a:off x="15641674" y="1708206"/>
            <a:ext cx="1634859" cy="163485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grpSp>
        <p:nvGrpSpPr>
          <p:cNvPr id="18" name="Group 18"/>
          <p:cNvGrpSpPr/>
          <p:nvPr/>
        </p:nvGrpSpPr>
        <p:grpSpPr>
          <a:xfrm rot="5400000">
            <a:off x="15641674" y="4912343"/>
            <a:ext cx="1634859" cy="1634859"/>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sp>
        <p:nvSpPr>
          <p:cNvPr id="20" name="TextBox 20"/>
          <p:cNvSpPr txBox="1"/>
          <p:nvPr/>
        </p:nvSpPr>
        <p:spPr>
          <a:xfrm>
            <a:off x="12051859" y="1892668"/>
            <a:ext cx="1943754" cy="1132586"/>
          </a:xfrm>
          <a:prstGeom prst="rect">
            <a:avLst/>
          </a:prstGeom>
        </p:spPr>
        <p:txBody>
          <a:bodyPr lIns="0" tIns="0" rIns="0" bIns="0" rtlCol="0" anchor="t">
            <a:spAutoFit/>
          </a:bodyPr>
          <a:lstStyle/>
          <a:p>
            <a:pPr algn="ctr">
              <a:lnSpc>
                <a:spcPts val="9100"/>
              </a:lnSpc>
            </a:pPr>
            <a:r>
              <a:rPr lang="en-US" sz="6594" b="1">
                <a:solidFill>
                  <a:srgbClr val="FFFFFF"/>
                </a:solidFill>
                <a:latin typeface="Almarai Bold"/>
                <a:ea typeface="Almarai Bold"/>
                <a:cs typeface="Almarai Bold"/>
                <a:sym typeface="Almarai Bold"/>
              </a:rPr>
              <a:t>02</a:t>
            </a:r>
          </a:p>
        </p:txBody>
      </p:sp>
      <p:sp>
        <p:nvSpPr>
          <p:cNvPr id="21" name="TextBox 21"/>
          <p:cNvSpPr txBox="1"/>
          <p:nvPr/>
        </p:nvSpPr>
        <p:spPr>
          <a:xfrm>
            <a:off x="12051859" y="5096805"/>
            <a:ext cx="1943754" cy="1132586"/>
          </a:xfrm>
          <a:prstGeom prst="rect">
            <a:avLst/>
          </a:prstGeom>
        </p:spPr>
        <p:txBody>
          <a:bodyPr lIns="0" tIns="0" rIns="0" bIns="0" rtlCol="0" anchor="t">
            <a:spAutoFit/>
          </a:bodyPr>
          <a:lstStyle/>
          <a:p>
            <a:pPr algn="ctr">
              <a:lnSpc>
                <a:spcPts val="9100"/>
              </a:lnSpc>
            </a:pPr>
            <a:r>
              <a:rPr lang="en-US" sz="6594" b="1">
                <a:solidFill>
                  <a:srgbClr val="FFFFFF"/>
                </a:solidFill>
                <a:latin typeface="Almarai Bold"/>
                <a:ea typeface="Almarai Bold"/>
                <a:cs typeface="Almarai Bold"/>
                <a:sym typeface="Almarai Bold"/>
              </a:rPr>
              <a:t>05</a:t>
            </a:r>
          </a:p>
        </p:txBody>
      </p:sp>
      <p:sp>
        <p:nvSpPr>
          <p:cNvPr id="22" name="TextBox 22"/>
          <p:cNvSpPr txBox="1"/>
          <p:nvPr/>
        </p:nvSpPr>
        <p:spPr>
          <a:xfrm>
            <a:off x="14980165" y="3578351"/>
            <a:ext cx="2665868" cy="1086870"/>
          </a:xfrm>
          <a:prstGeom prst="rect">
            <a:avLst/>
          </a:prstGeom>
        </p:spPr>
        <p:txBody>
          <a:bodyPr lIns="0" tIns="0" rIns="0" bIns="0" rtlCol="0" anchor="t">
            <a:spAutoFit/>
          </a:bodyPr>
          <a:lstStyle/>
          <a:p>
            <a:pPr algn="ctr">
              <a:lnSpc>
                <a:spcPts val="4264"/>
              </a:lnSpc>
            </a:pPr>
            <a:r>
              <a:rPr lang="en-US" sz="3090" b="1">
                <a:solidFill>
                  <a:srgbClr val="FFFFFF"/>
                </a:solidFill>
                <a:latin typeface="Almarai Bold"/>
                <a:ea typeface="Almarai Bold"/>
                <a:cs typeface="Almarai Bold"/>
                <a:sym typeface="Almarai Bold"/>
              </a:rPr>
              <a:t>WORKING</a:t>
            </a:r>
          </a:p>
          <a:p>
            <a:pPr algn="ctr">
              <a:lnSpc>
                <a:spcPts val="4264"/>
              </a:lnSpc>
            </a:pPr>
            <a:r>
              <a:rPr lang="en-US" sz="3090" b="1">
                <a:solidFill>
                  <a:srgbClr val="FFFFFF"/>
                </a:solidFill>
                <a:latin typeface="Almarai Bold"/>
                <a:ea typeface="Almarai Bold"/>
                <a:cs typeface="Almarai Bold"/>
                <a:sym typeface="Almarai Bold"/>
              </a:rPr>
              <a:t>PRINCIPLE</a:t>
            </a:r>
          </a:p>
        </p:txBody>
      </p:sp>
      <p:sp>
        <p:nvSpPr>
          <p:cNvPr id="23" name="TextBox 23"/>
          <p:cNvSpPr txBox="1"/>
          <p:nvPr/>
        </p:nvSpPr>
        <p:spPr>
          <a:xfrm>
            <a:off x="15341222" y="1892668"/>
            <a:ext cx="1943754" cy="1132586"/>
          </a:xfrm>
          <a:prstGeom prst="rect">
            <a:avLst/>
          </a:prstGeom>
        </p:spPr>
        <p:txBody>
          <a:bodyPr lIns="0" tIns="0" rIns="0" bIns="0" rtlCol="0" anchor="t">
            <a:spAutoFit/>
          </a:bodyPr>
          <a:lstStyle/>
          <a:p>
            <a:pPr algn="ctr">
              <a:lnSpc>
                <a:spcPts val="9100"/>
              </a:lnSpc>
            </a:pPr>
            <a:r>
              <a:rPr lang="en-US" sz="6594" b="1">
                <a:solidFill>
                  <a:srgbClr val="FFFFFF"/>
                </a:solidFill>
                <a:latin typeface="Almarai Bold"/>
                <a:ea typeface="Almarai Bold"/>
                <a:cs typeface="Almarai Bold"/>
                <a:sym typeface="Almarai Bold"/>
              </a:rPr>
              <a:t>03</a:t>
            </a:r>
          </a:p>
        </p:txBody>
      </p:sp>
      <p:sp>
        <p:nvSpPr>
          <p:cNvPr id="24" name="TextBox 24"/>
          <p:cNvSpPr txBox="1"/>
          <p:nvPr/>
        </p:nvSpPr>
        <p:spPr>
          <a:xfrm>
            <a:off x="15641674" y="6686232"/>
            <a:ext cx="1943754" cy="541448"/>
          </a:xfrm>
          <a:prstGeom prst="rect">
            <a:avLst/>
          </a:prstGeom>
        </p:spPr>
        <p:txBody>
          <a:bodyPr lIns="0" tIns="0" rIns="0" bIns="0" rtlCol="0" anchor="t">
            <a:spAutoFit/>
          </a:bodyPr>
          <a:lstStyle/>
          <a:p>
            <a:pPr algn="ctr">
              <a:lnSpc>
                <a:spcPts val="4264"/>
              </a:lnSpc>
            </a:pPr>
            <a:r>
              <a:rPr lang="en-US" sz="3090" b="1">
                <a:solidFill>
                  <a:srgbClr val="FFFFFF"/>
                </a:solidFill>
                <a:latin typeface="Almarai Bold"/>
                <a:ea typeface="Almarai Bold"/>
                <a:cs typeface="Almarai Bold"/>
                <a:sym typeface="Almarai Bold"/>
              </a:rPr>
              <a:t>TEAM</a:t>
            </a:r>
          </a:p>
        </p:txBody>
      </p:sp>
      <p:sp>
        <p:nvSpPr>
          <p:cNvPr id="25" name="TextBox 25"/>
          <p:cNvSpPr txBox="1"/>
          <p:nvPr/>
        </p:nvSpPr>
        <p:spPr>
          <a:xfrm>
            <a:off x="15341222" y="5096805"/>
            <a:ext cx="1943754" cy="1132586"/>
          </a:xfrm>
          <a:prstGeom prst="rect">
            <a:avLst/>
          </a:prstGeom>
        </p:spPr>
        <p:txBody>
          <a:bodyPr lIns="0" tIns="0" rIns="0" bIns="0" rtlCol="0" anchor="t">
            <a:spAutoFit/>
          </a:bodyPr>
          <a:lstStyle/>
          <a:p>
            <a:pPr algn="ctr">
              <a:lnSpc>
                <a:spcPts val="9100"/>
              </a:lnSpc>
            </a:pPr>
            <a:r>
              <a:rPr lang="en-US" sz="6594" b="1">
                <a:solidFill>
                  <a:srgbClr val="FFFFFF"/>
                </a:solidFill>
                <a:latin typeface="Almarai Bold"/>
                <a:ea typeface="Almarai Bold"/>
                <a:cs typeface="Almarai Bold"/>
                <a:sym typeface="Almarai Bold"/>
              </a:rPr>
              <a:t>06</a:t>
            </a:r>
          </a:p>
        </p:txBody>
      </p:sp>
      <p:sp>
        <p:nvSpPr>
          <p:cNvPr id="26" name="TextBox 26"/>
          <p:cNvSpPr txBox="1"/>
          <p:nvPr/>
        </p:nvSpPr>
        <p:spPr>
          <a:xfrm>
            <a:off x="8404675" y="3578351"/>
            <a:ext cx="2665868" cy="541448"/>
          </a:xfrm>
          <a:prstGeom prst="rect">
            <a:avLst/>
          </a:prstGeom>
        </p:spPr>
        <p:txBody>
          <a:bodyPr lIns="0" tIns="0" rIns="0" bIns="0" rtlCol="0" anchor="t">
            <a:spAutoFit/>
          </a:bodyPr>
          <a:lstStyle/>
          <a:p>
            <a:pPr algn="ctr">
              <a:lnSpc>
                <a:spcPts val="4264"/>
              </a:lnSpc>
            </a:pPr>
            <a:r>
              <a:rPr lang="en-US" sz="3090" b="1">
                <a:solidFill>
                  <a:srgbClr val="FFFFFF"/>
                </a:solidFill>
                <a:latin typeface="Almarai Bold"/>
                <a:ea typeface="Almarai Bold"/>
                <a:cs typeface="Almarai Bold"/>
                <a:sym typeface="Almarai Bold"/>
              </a:rPr>
              <a:t>OBJECTIVE</a:t>
            </a:r>
          </a:p>
        </p:txBody>
      </p:sp>
      <p:grpSp>
        <p:nvGrpSpPr>
          <p:cNvPr id="27" name="Group 27"/>
          <p:cNvGrpSpPr/>
          <p:nvPr/>
        </p:nvGrpSpPr>
        <p:grpSpPr>
          <a:xfrm rot="5400000">
            <a:off x="8920179" y="1708206"/>
            <a:ext cx="1634859" cy="1634859"/>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grpSp>
        <p:nvGrpSpPr>
          <p:cNvPr id="29" name="Group 29"/>
          <p:cNvGrpSpPr/>
          <p:nvPr/>
        </p:nvGrpSpPr>
        <p:grpSpPr>
          <a:xfrm rot="5400000">
            <a:off x="8920179" y="4912343"/>
            <a:ext cx="1634859" cy="1634859"/>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sp>
        <p:nvSpPr>
          <p:cNvPr id="31" name="TextBox 31"/>
          <p:cNvSpPr txBox="1"/>
          <p:nvPr/>
        </p:nvSpPr>
        <p:spPr>
          <a:xfrm>
            <a:off x="8765732" y="1892668"/>
            <a:ext cx="1943754" cy="1132586"/>
          </a:xfrm>
          <a:prstGeom prst="rect">
            <a:avLst/>
          </a:prstGeom>
        </p:spPr>
        <p:txBody>
          <a:bodyPr lIns="0" tIns="0" rIns="0" bIns="0" rtlCol="0" anchor="t">
            <a:spAutoFit/>
          </a:bodyPr>
          <a:lstStyle/>
          <a:p>
            <a:pPr algn="ctr">
              <a:lnSpc>
                <a:spcPts val="9100"/>
              </a:lnSpc>
            </a:pPr>
            <a:r>
              <a:rPr lang="en-US" sz="6594" b="1">
                <a:solidFill>
                  <a:srgbClr val="FFFFFF"/>
                </a:solidFill>
                <a:latin typeface="Almarai Bold"/>
                <a:ea typeface="Almarai Bold"/>
                <a:cs typeface="Almarai Bold"/>
                <a:sym typeface="Almarai Bold"/>
              </a:rPr>
              <a:t>01</a:t>
            </a:r>
          </a:p>
        </p:txBody>
      </p:sp>
      <p:sp>
        <p:nvSpPr>
          <p:cNvPr id="32" name="TextBox 32"/>
          <p:cNvSpPr txBox="1"/>
          <p:nvPr/>
        </p:nvSpPr>
        <p:spPr>
          <a:xfrm>
            <a:off x="8164418" y="6677471"/>
            <a:ext cx="3146382" cy="541448"/>
          </a:xfrm>
          <a:prstGeom prst="rect">
            <a:avLst/>
          </a:prstGeom>
        </p:spPr>
        <p:txBody>
          <a:bodyPr lIns="0" tIns="0" rIns="0" bIns="0" rtlCol="0" anchor="t">
            <a:spAutoFit/>
          </a:bodyPr>
          <a:lstStyle/>
          <a:p>
            <a:pPr algn="ctr">
              <a:lnSpc>
                <a:spcPts val="4264"/>
              </a:lnSpc>
            </a:pPr>
            <a:r>
              <a:rPr lang="en-US" sz="3090" b="1">
                <a:solidFill>
                  <a:srgbClr val="FFFFFF"/>
                </a:solidFill>
                <a:latin typeface="Almarai Bold"/>
                <a:ea typeface="Almarai Bold"/>
                <a:cs typeface="Almarai Bold"/>
                <a:sym typeface="Almarai Bold"/>
              </a:rPr>
              <a:t>FLOWCHART</a:t>
            </a:r>
          </a:p>
        </p:txBody>
      </p:sp>
      <p:sp>
        <p:nvSpPr>
          <p:cNvPr id="33" name="TextBox 33"/>
          <p:cNvSpPr txBox="1"/>
          <p:nvPr/>
        </p:nvSpPr>
        <p:spPr>
          <a:xfrm>
            <a:off x="11795893" y="6677471"/>
            <a:ext cx="3184272" cy="541448"/>
          </a:xfrm>
          <a:prstGeom prst="rect">
            <a:avLst/>
          </a:prstGeom>
        </p:spPr>
        <p:txBody>
          <a:bodyPr lIns="0" tIns="0" rIns="0" bIns="0" rtlCol="0" anchor="t">
            <a:spAutoFit/>
          </a:bodyPr>
          <a:lstStyle/>
          <a:p>
            <a:pPr algn="ctr">
              <a:lnSpc>
                <a:spcPts val="4264"/>
              </a:lnSpc>
            </a:pPr>
            <a:r>
              <a:rPr lang="en-US" sz="3090" b="1">
                <a:solidFill>
                  <a:srgbClr val="FFFFFF"/>
                </a:solidFill>
                <a:latin typeface="Almarai Bold"/>
                <a:ea typeface="Almarai Bold"/>
                <a:cs typeface="Almarai Bold"/>
                <a:sym typeface="Almarai Bold"/>
              </a:rPr>
              <a:t>CONCLUSION</a:t>
            </a:r>
          </a:p>
        </p:txBody>
      </p:sp>
      <p:sp>
        <p:nvSpPr>
          <p:cNvPr id="34" name="TextBox 34"/>
          <p:cNvSpPr txBox="1"/>
          <p:nvPr/>
        </p:nvSpPr>
        <p:spPr>
          <a:xfrm>
            <a:off x="8765732" y="5096805"/>
            <a:ext cx="1943754" cy="1132586"/>
          </a:xfrm>
          <a:prstGeom prst="rect">
            <a:avLst/>
          </a:prstGeom>
        </p:spPr>
        <p:txBody>
          <a:bodyPr lIns="0" tIns="0" rIns="0" bIns="0" rtlCol="0" anchor="t">
            <a:spAutoFit/>
          </a:bodyPr>
          <a:lstStyle/>
          <a:p>
            <a:pPr algn="ctr">
              <a:lnSpc>
                <a:spcPts val="9100"/>
              </a:lnSpc>
            </a:pPr>
            <a:r>
              <a:rPr lang="en-US" sz="6594" b="1">
                <a:solidFill>
                  <a:srgbClr val="FFFFFF"/>
                </a:solidFill>
                <a:latin typeface="Almarai Bold"/>
                <a:ea typeface="Almarai Bold"/>
                <a:cs typeface="Almarai Bold"/>
                <a:sym typeface="Almarai Bold"/>
              </a:rPr>
              <a:t>04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1291592" y="1717521"/>
            <a:ext cx="6376662" cy="637666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grpSp>
        <p:nvGrpSpPr>
          <p:cNvPr id="4" name="Group 4"/>
          <p:cNvGrpSpPr/>
          <p:nvPr/>
        </p:nvGrpSpPr>
        <p:grpSpPr>
          <a:xfrm>
            <a:off x="682767" y="1195545"/>
            <a:ext cx="7594311" cy="759431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sp>
        <p:nvSpPr>
          <p:cNvPr id="6" name="TextBox 6"/>
          <p:cNvSpPr txBox="1"/>
          <p:nvPr/>
        </p:nvSpPr>
        <p:spPr>
          <a:xfrm>
            <a:off x="2200679" y="4534659"/>
            <a:ext cx="4800049" cy="1903095"/>
          </a:xfrm>
          <a:prstGeom prst="rect">
            <a:avLst/>
          </a:prstGeom>
        </p:spPr>
        <p:txBody>
          <a:bodyPr lIns="0" tIns="0" rIns="0" bIns="0" rtlCol="0" anchor="t">
            <a:spAutoFit/>
          </a:bodyPr>
          <a:lstStyle/>
          <a:p>
            <a:pPr algn="ctr">
              <a:lnSpc>
                <a:spcPts val="7288"/>
              </a:lnSpc>
            </a:pPr>
            <a:r>
              <a:rPr lang="en-US" sz="6073" b="1">
                <a:solidFill>
                  <a:srgbClr val="FFFFFF"/>
                </a:solidFill>
                <a:latin typeface="Almarai Bold"/>
                <a:ea typeface="Almarai Bold"/>
                <a:cs typeface="Almarai Bold"/>
                <a:sym typeface="Almarai Bold"/>
              </a:rPr>
              <a:t>PROJECT</a:t>
            </a:r>
          </a:p>
          <a:p>
            <a:pPr marL="0" lvl="0" indent="0" algn="ctr">
              <a:lnSpc>
                <a:spcPts val="7288"/>
              </a:lnSpc>
              <a:spcBef>
                <a:spcPct val="0"/>
              </a:spcBef>
            </a:pPr>
            <a:r>
              <a:rPr lang="en-US" sz="6073" b="1">
                <a:solidFill>
                  <a:srgbClr val="FFFFFF"/>
                </a:solidFill>
                <a:latin typeface="Almarai Bold"/>
                <a:ea typeface="Almarai Bold"/>
                <a:cs typeface="Almarai Bold"/>
                <a:sym typeface="Almarai Bold"/>
              </a:rPr>
              <a:t>OBJECTIVE</a:t>
            </a:r>
          </a:p>
        </p:txBody>
      </p:sp>
      <p:grpSp>
        <p:nvGrpSpPr>
          <p:cNvPr id="7" name="Group 7"/>
          <p:cNvGrpSpPr/>
          <p:nvPr/>
        </p:nvGrpSpPr>
        <p:grpSpPr>
          <a:xfrm rot="-10800000">
            <a:off x="-4725380" y="5468707"/>
            <a:ext cx="5754080" cy="8220114"/>
            <a:chOff x="0" y="0"/>
            <a:chExt cx="4445000" cy="6350000"/>
          </a:xfrm>
        </p:grpSpPr>
        <p:sp>
          <p:nvSpPr>
            <p:cNvPr id="8" name="Freeform 8"/>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grpSp>
        <p:nvGrpSpPr>
          <p:cNvPr id="9" name="Group 9"/>
          <p:cNvGrpSpPr/>
          <p:nvPr/>
        </p:nvGrpSpPr>
        <p:grpSpPr>
          <a:xfrm rot="5400000">
            <a:off x="3867511" y="3014990"/>
            <a:ext cx="1224824" cy="122482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sp>
        <p:nvSpPr>
          <p:cNvPr id="11" name="TextBox 11"/>
          <p:cNvSpPr txBox="1"/>
          <p:nvPr/>
        </p:nvSpPr>
        <p:spPr>
          <a:xfrm>
            <a:off x="3751800" y="3157842"/>
            <a:ext cx="1456246" cy="850434"/>
          </a:xfrm>
          <a:prstGeom prst="rect">
            <a:avLst/>
          </a:prstGeom>
        </p:spPr>
        <p:txBody>
          <a:bodyPr lIns="0" tIns="0" rIns="0" bIns="0" rtlCol="0" anchor="t">
            <a:spAutoFit/>
          </a:bodyPr>
          <a:lstStyle/>
          <a:p>
            <a:pPr algn="ctr">
              <a:lnSpc>
                <a:spcPts val="6817"/>
              </a:lnSpc>
            </a:pPr>
            <a:r>
              <a:rPr lang="en-US" sz="4940" b="1">
                <a:solidFill>
                  <a:srgbClr val="FFFFFF"/>
                </a:solidFill>
                <a:latin typeface="Almarai Bold"/>
                <a:ea typeface="Almarai Bold"/>
                <a:cs typeface="Almarai Bold"/>
                <a:sym typeface="Almarai Bold"/>
              </a:rPr>
              <a:t>01</a:t>
            </a:r>
          </a:p>
        </p:txBody>
      </p:sp>
      <p:sp>
        <p:nvSpPr>
          <p:cNvPr id="12" name="TextBox 12"/>
          <p:cNvSpPr txBox="1"/>
          <p:nvPr/>
        </p:nvSpPr>
        <p:spPr>
          <a:xfrm>
            <a:off x="9144000" y="2371847"/>
            <a:ext cx="8257390" cy="5722336"/>
          </a:xfrm>
          <a:prstGeom prst="rect">
            <a:avLst/>
          </a:prstGeom>
        </p:spPr>
        <p:txBody>
          <a:bodyPr lIns="0" tIns="0" rIns="0" bIns="0" rtlCol="0" anchor="t">
            <a:spAutoFit/>
          </a:bodyPr>
          <a:lstStyle/>
          <a:p>
            <a:pPr algn="ctr">
              <a:lnSpc>
                <a:spcPts val="6457"/>
              </a:lnSpc>
              <a:spcBef>
                <a:spcPct val="0"/>
              </a:spcBef>
            </a:pPr>
            <a:r>
              <a:rPr lang="en-US" sz="4679">
                <a:solidFill>
                  <a:srgbClr val="FFFFFF"/>
                </a:solidFill>
                <a:latin typeface="Almarai"/>
                <a:ea typeface="Almarai"/>
                <a:cs typeface="Almarai"/>
                <a:sym typeface="Almarai"/>
              </a:rPr>
              <a:t>The project's objective is to build a hardware model demonstrating regenerative braking in a 3-phase induction motor, showing its ability to convert kinetic energy into usable electrical energy.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1291592" y="1717521"/>
            <a:ext cx="6376662" cy="637666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grpSp>
        <p:nvGrpSpPr>
          <p:cNvPr id="4" name="Group 4"/>
          <p:cNvGrpSpPr/>
          <p:nvPr/>
        </p:nvGrpSpPr>
        <p:grpSpPr>
          <a:xfrm>
            <a:off x="682767" y="1213974"/>
            <a:ext cx="7594311" cy="759431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sp>
        <p:nvSpPr>
          <p:cNvPr id="6" name="TextBox 6"/>
          <p:cNvSpPr txBox="1"/>
          <p:nvPr/>
        </p:nvSpPr>
        <p:spPr>
          <a:xfrm>
            <a:off x="2200679" y="4534659"/>
            <a:ext cx="4800049" cy="1903095"/>
          </a:xfrm>
          <a:prstGeom prst="rect">
            <a:avLst/>
          </a:prstGeom>
        </p:spPr>
        <p:txBody>
          <a:bodyPr lIns="0" tIns="0" rIns="0" bIns="0" rtlCol="0" anchor="t">
            <a:spAutoFit/>
          </a:bodyPr>
          <a:lstStyle/>
          <a:p>
            <a:pPr algn="ctr">
              <a:lnSpc>
                <a:spcPts val="7288"/>
              </a:lnSpc>
            </a:pPr>
            <a:r>
              <a:rPr lang="en-US" sz="6073" b="1">
                <a:solidFill>
                  <a:srgbClr val="FFFFFF"/>
                </a:solidFill>
                <a:latin typeface="Almarai Bold"/>
                <a:ea typeface="Almarai Bold"/>
                <a:cs typeface="Almarai Bold"/>
                <a:sym typeface="Almarai Bold"/>
              </a:rPr>
              <a:t>TECHNICAL</a:t>
            </a:r>
          </a:p>
          <a:p>
            <a:pPr marL="0" lvl="0" indent="0" algn="ctr">
              <a:lnSpc>
                <a:spcPts val="7288"/>
              </a:lnSpc>
              <a:spcBef>
                <a:spcPct val="0"/>
              </a:spcBef>
            </a:pPr>
            <a:r>
              <a:rPr lang="en-US" sz="6073" b="1">
                <a:solidFill>
                  <a:srgbClr val="FFFFFF"/>
                </a:solidFill>
                <a:latin typeface="Almarai Bold"/>
                <a:ea typeface="Almarai Bold"/>
                <a:cs typeface="Almarai Bold"/>
                <a:sym typeface="Almarai Bold"/>
              </a:rPr>
              <a:t>GOALS</a:t>
            </a:r>
          </a:p>
        </p:txBody>
      </p:sp>
      <p:sp>
        <p:nvSpPr>
          <p:cNvPr id="7" name="TextBox 7"/>
          <p:cNvSpPr txBox="1"/>
          <p:nvPr/>
        </p:nvSpPr>
        <p:spPr>
          <a:xfrm>
            <a:off x="10748301" y="1858595"/>
            <a:ext cx="7382772" cy="713767"/>
          </a:xfrm>
          <a:prstGeom prst="rect">
            <a:avLst/>
          </a:prstGeom>
        </p:spPr>
        <p:txBody>
          <a:bodyPr lIns="0" tIns="0" rIns="0" bIns="0" rtlCol="0" anchor="t">
            <a:spAutoFit/>
          </a:bodyPr>
          <a:lstStyle/>
          <a:p>
            <a:pPr marL="0" lvl="0" indent="0" algn="l">
              <a:lnSpc>
                <a:spcPts val="5699"/>
              </a:lnSpc>
              <a:spcBef>
                <a:spcPct val="0"/>
              </a:spcBef>
            </a:pPr>
            <a:r>
              <a:rPr lang="en-US" sz="4129" b="1">
                <a:solidFill>
                  <a:srgbClr val="17E3B2"/>
                </a:solidFill>
                <a:latin typeface="Almarai Bold"/>
                <a:ea typeface="Almarai Bold"/>
                <a:cs typeface="Almarai Bold"/>
                <a:sym typeface="Almarai Bold"/>
              </a:rPr>
              <a:t>SHOW POWER REVERSAL</a:t>
            </a:r>
          </a:p>
        </p:txBody>
      </p:sp>
      <p:sp>
        <p:nvSpPr>
          <p:cNvPr id="8" name="TextBox 8"/>
          <p:cNvSpPr txBox="1"/>
          <p:nvPr/>
        </p:nvSpPr>
        <p:spPr>
          <a:xfrm>
            <a:off x="10769519" y="2673960"/>
            <a:ext cx="7361554" cy="1628457"/>
          </a:xfrm>
          <a:prstGeom prst="rect">
            <a:avLst/>
          </a:prstGeom>
        </p:spPr>
        <p:txBody>
          <a:bodyPr lIns="0" tIns="0" rIns="0" bIns="0" rtlCol="0" anchor="t">
            <a:spAutoFit/>
          </a:bodyPr>
          <a:lstStyle/>
          <a:p>
            <a:pPr marL="0" lvl="0" indent="0" algn="l">
              <a:lnSpc>
                <a:spcPts val="3261"/>
              </a:lnSpc>
              <a:spcBef>
                <a:spcPct val="0"/>
              </a:spcBef>
            </a:pPr>
            <a:r>
              <a:rPr lang="en-US" sz="2363">
                <a:solidFill>
                  <a:srgbClr val="FFFFFF"/>
                </a:solidFill>
                <a:latin typeface="Almarai"/>
                <a:ea typeface="Almarai"/>
                <a:cs typeface="Almarai"/>
                <a:sym typeface="Almarai"/>
              </a:rPr>
              <a:t>The main goal is to show the motor's power flow reversing. We'll use a meter to prove that the motor takes power to run and then sends it back to the power supply when braking.</a:t>
            </a:r>
          </a:p>
        </p:txBody>
      </p:sp>
      <p:grpSp>
        <p:nvGrpSpPr>
          <p:cNvPr id="9" name="Group 9"/>
          <p:cNvGrpSpPr/>
          <p:nvPr/>
        </p:nvGrpSpPr>
        <p:grpSpPr>
          <a:xfrm>
            <a:off x="8555619" y="2161199"/>
            <a:ext cx="1678012" cy="16780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a:ln w="95250" cap="sq">
              <a:solidFill>
                <a:srgbClr val="051D4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605"/>
                </a:lnSpc>
              </a:pPr>
              <a:endParaRPr/>
            </a:p>
          </p:txBody>
        </p:sp>
      </p:grpSp>
      <p:grpSp>
        <p:nvGrpSpPr>
          <p:cNvPr id="12" name="Group 12"/>
          <p:cNvGrpSpPr/>
          <p:nvPr/>
        </p:nvGrpSpPr>
        <p:grpSpPr>
          <a:xfrm>
            <a:off x="8543778" y="4538169"/>
            <a:ext cx="1678012" cy="16780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a:ln w="95250" cap="sq">
              <a:solidFill>
                <a:srgbClr val="051D40"/>
              </a:solidFill>
              <a:prstDash val="solid"/>
              <a:miter/>
            </a:ln>
          </p:spPr>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05"/>
                </a:lnSpc>
              </a:pPr>
              <a:endParaRPr/>
            </a:p>
          </p:txBody>
        </p:sp>
      </p:grpSp>
      <p:grpSp>
        <p:nvGrpSpPr>
          <p:cNvPr id="15" name="Group 15"/>
          <p:cNvGrpSpPr/>
          <p:nvPr/>
        </p:nvGrpSpPr>
        <p:grpSpPr>
          <a:xfrm>
            <a:off x="8543778" y="6972419"/>
            <a:ext cx="1678012" cy="16780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a:ln w="95250" cap="sq">
              <a:solidFill>
                <a:srgbClr val="051D40"/>
              </a:solidFill>
              <a:prstDash val="solid"/>
              <a:miter/>
            </a:ln>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2605"/>
                </a:lnSpc>
              </a:pPr>
              <a:endParaRPr/>
            </a:p>
          </p:txBody>
        </p:sp>
      </p:grpSp>
      <p:sp>
        <p:nvSpPr>
          <p:cNvPr id="18" name="Freeform 18"/>
          <p:cNvSpPr/>
          <p:nvPr/>
        </p:nvSpPr>
        <p:spPr>
          <a:xfrm>
            <a:off x="8934198" y="2563038"/>
            <a:ext cx="897172" cy="874334"/>
          </a:xfrm>
          <a:custGeom>
            <a:avLst/>
            <a:gdLst/>
            <a:ahLst/>
            <a:cxnLst/>
            <a:rect l="l" t="t" r="r" b="b"/>
            <a:pathLst>
              <a:path w="897172" h="874334">
                <a:moveTo>
                  <a:pt x="0" y="0"/>
                </a:moveTo>
                <a:lnTo>
                  <a:pt x="897172" y="0"/>
                </a:lnTo>
                <a:lnTo>
                  <a:pt x="897172" y="874334"/>
                </a:lnTo>
                <a:lnTo>
                  <a:pt x="0" y="87433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9" name="TextBox 19"/>
          <p:cNvSpPr txBox="1"/>
          <p:nvPr/>
        </p:nvSpPr>
        <p:spPr>
          <a:xfrm>
            <a:off x="10748301" y="4297363"/>
            <a:ext cx="5387250" cy="713767"/>
          </a:xfrm>
          <a:prstGeom prst="rect">
            <a:avLst/>
          </a:prstGeom>
        </p:spPr>
        <p:txBody>
          <a:bodyPr lIns="0" tIns="0" rIns="0" bIns="0" rtlCol="0" anchor="t">
            <a:spAutoFit/>
          </a:bodyPr>
          <a:lstStyle/>
          <a:p>
            <a:pPr marL="0" lvl="0" indent="0" algn="l">
              <a:lnSpc>
                <a:spcPts val="5699"/>
              </a:lnSpc>
              <a:spcBef>
                <a:spcPct val="0"/>
              </a:spcBef>
            </a:pPr>
            <a:r>
              <a:rPr lang="en-US" sz="4129" b="1">
                <a:solidFill>
                  <a:srgbClr val="17E3B2"/>
                </a:solidFill>
                <a:latin typeface="Almarai Bold"/>
                <a:ea typeface="Almarai Bold"/>
                <a:cs typeface="Almarai Bold"/>
                <a:sym typeface="Almarai Bold"/>
              </a:rPr>
              <a:t>USE A VFD</a:t>
            </a:r>
          </a:p>
        </p:txBody>
      </p:sp>
      <p:sp>
        <p:nvSpPr>
          <p:cNvPr id="20" name="TextBox 20"/>
          <p:cNvSpPr txBox="1"/>
          <p:nvPr/>
        </p:nvSpPr>
        <p:spPr>
          <a:xfrm>
            <a:off x="10769519" y="5050930"/>
            <a:ext cx="7361554" cy="1222125"/>
          </a:xfrm>
          <a:prstGeom prst="rect">
            <a:avLst/>
          </a:prstGeom>
        </p:spPr>
        <p:txBody>
          <a:bodyPr lIns="0" tIns="0" rIns="0" bIns="0" rtlCol="0" anchor="t">
            <a:spAutoFit/>
          </a:bodyPr>
          <a:lstStyle/>
          <a:p>
            <a:pPr marL="0" lvl="0" indent="0" algn="l">
              <a:lnSpc>
                <a:spcPts val="3261"/>
              </a:lnSpc>
              <a:spcBef>
                <a:spcPct val="0"/>
              </a:spcBef>
            </a:pPr>
            <a:r>
              <a:rPr lang="en-US" sz="2363">
                <a:solidFill>
                  <a:srgbClr val="FFFFFF"/>
                </a:solidFill>
                <a:latin typeface="Almarai"/>
                <a:ea typeface="Almarai"/>
                <a:cs typeface="Almarai"/>
                <a:sym typeface="Almarai"/>
              </a:rPr>
              <a:t>A Variable Frequency Drive (VFD) is key. It lets us control the motor's speed and initiate braking on command by adjusting its output frequency.</a:t>
            </a:r>
          </a:p>
        </p:txBody>
      </p:sp>
      <p:sp>
        <p:nvSpPr>
          <p:cNvPr id="21" name="Freeform 21"/>
          <p:cNvSpPr/>
          <p:nvPr/>
        </p:nvSpPr>
        <p:spPr>
          <a:xfrm>
            <a:off x="9024482" y="4982872"/>
            <a:ext cx="716604" cy="819402"/>
          </a:xfrm>
          <a:custGeom>
            <a:avLst/>
            <a:gdLst/>
            <a:ahLst/>
            <a:cxnLst/>
            <a:rect l="l" t="t" r="r" b="b"/>
            <a:pathLst>
              <a:path w="716604" h="819402">
                <a:moveTo>
                  <a:pt x="0" y="0"/>
                </a:moveTo>
                <a:lnTo>
                  <a:pt x="716604" y="0"/>
                </a:lnTo>
                <a:lnTo>
                  <a:pt x="716604" y="819402"/>
                </a:lnTo>
                <a:lnTo>
                  <a:pt x="0" y="81940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22" name="TextBox 22"/>
          <p:cNvSpPr txBox="1"/>
          <p:nvPr/>
        </p:nvSpPr>
        <p:spPr>
          <a:xfrm>
            <a:off x="10748301" y="6674739"/>
            <a:ext cx="5387250" cy="713767"/>
          </a:xfrm>
          <a:prstGeom prst="rect">
            <a:avLst/>
          </a:prstGeom>
        </p:spPr>
        <p:txBody>
          <a:bodyPr lIns="0" tIns="0" rIns="0" bIns="0" rtlCol="0" anchor="t">
            <a:spAutoFit/>
          </a:bodyPr>
          <a:lstStyle/>
          <a:p>
            <a:pPr marL="0" lvl="0" indent="0" algn="l">
              <a:lnSpc>
                <a:spcPts val="5699"/>
              </a:lnSpc>
              <a:spcBef>
                <a:spcPct val="0"/>
              </a:spcBef>
            </a:pPr>
            <a:r>
              <a:rPr lang="en-US" sz="4129" b="1">
                <a:solidFill>
                  <a:srgbClr val="17E3B2"/>
                </a:solidFill>
                <a:latin typeface="Almarai Bold"/>
                <a:ea typeface="Almarai Bold"/>
                <a:cs typeface="Almarai Bold"/>
                <a:sym typeface="Almarai Bold"/>
              </a:rPr>
              <a:t>DISPLAY KEY DATA</a:t>
            </a:r>
          </a:p>
        </p:txBody>
      </p:sp>
      <p:sp>
        <p:nvSpPr>
          <p:cNvPr id="23" name="TextBox 23"/>
          <p:cNvSpPr txBox="1"/>
          <p:nvPr/>
        </p:nvSpPr>
        <p:spPr>
          <a:xfrm>
            <a:off x="10769519" y="7428306"/>
            <a:ext cx="7361554" cy="2034788"/>
          </a:xfrm>
          <a:prstGeom prst="rect">
            <a:avLst/>
          </a:prstGeom>
        </p:spPr>
        <p:txBody>
          <a:bodyPr lIns="0" tIns="0" rIns="0" bIns="0" rtlCol="0" anchor="t">
            <a:spAutoFit/>
          </a:bodyPr>
          <a:lstStyle/>
          <a:p>
            <a:pPr algn="l">
              <a:lnSpc>
                <a:spcPts val="3261"/>
              </a:lnSpc>
            </a:pPr>
            <a:r>
              <a:rPr lang="en-US" sz="2363">
                <a:solidFill>
                  <a:srgbClr val="FFFFFF"/>
                </a:solidFill>
                <a:latin typeface="Almarai"/>
                <a:ea typeface="Almarai"/>
                <a:cs typeface="Almarai"/>
                <a:sym typeface="Almarai"/>
              </a:rPr>
              <a:t> The model will include a display to show important data like the motor's speed and the direction of power flow, providing clear evidence of the braking process.</a:t>
            </a:r>
          </a:p>
          <a:p>
            <a:pPr algn="l">
              <a:lnSpc>
                <a:spcPts val="3261"/>
              </a:lnSpc>
            </a:pPr>
            <a:endParaRPr lang="en-US" sz="2363">
              <a:solidFill>
                <a:srgbClr val="FFFFFF"/>
              </a:solidFill>
              <a:latin typeface="Almarai"/>
              <a:ea typeface="Almarai"/>
              <a:cs typeface="Almarai"/>
              <a:sym typeface="Almarai"/>
            </a:endParaRPr>
          </a:p>
          <a:p>
            <a:pPr marL="0" lvl="0" indent="0" algn="l">
              <a:lnSpc>
                <a:spcPts val="3261"/>
              </a:lnSpc>
              <a:spcBef>
                <a:spcPct val="0"/>
              </a:spcBef>
            </a:pPr>
            <a:endParaRPr lang="en-US" sz="2363">
              <a:solidFill>
                <a:srgbClr val="FFFFFF"/>
              </a:solidFill>
              <a:latin typeface="Almarai"/>
              <a:ea typeface="Almarai"/>
              <a:cs typeface="Almarai"/>
              <a:sym typeface="Almarai"/>
            </a:endParaRPr>
          </a:p>
        </p:txBody>
      </p:sp>
      <p:sp>
        <p:nvSpPr>
          <p:cNvPr id="24" name="Freeform 24"/>
          <p:cNvSpPr/>
          <p:nvPr/>
        </p:nvSpPr>
        <p:spPr>
          <a:xfrm>
            <a:off x="9048163" y="7358259"/>
            <a:ext cx="692923" cy="882193"/>
          </a:xfrm>
          <a:custGeom>
            <a:avLst/>
            <a:gdLst/>
            <a:ahLst/>
            <a:cxnLst/>
            <a:rect l="l" t="t" r="r" b="b"/>
            <a:pathLst>
              <a:path w="692923" h="882193">
                <a:moveTo>
                  <a:pt x="0" y="0"/>
                </a:moveTo>
                <a:lnTo>
                  <a:pt x="692923" y="0"/>
                </a:lnTo>
                <a:lnTo>
                  <a:pt x="692923" y="882193"/>
                </a:lnTo>
                <a:lnTo>
                  <a:pt x="0" y="882193"/>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25" name="Group 25"/>
          <p:cNvGrpSpPr/>
          <p:nvPr/>
        </p:nvGrpSpPr>
        <p:grpSpPr>
          <a:xfrm>
            <a:off x="17616065" y="1182169"/>
            <a:ext cx="6343168" cy="9061669"/>
            <a:chOff x="0" y="0"/>
            <a:chExt cx="4445000" cy="6350000"/>
          </a:xfrm>
        </p:grpSpPr>
        <p:sp>
          <p:nvSpPr>
            <p:cNvPr id="26" name="Freeform 26"/>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grpSp>
        <p:nvGrpSpPr>
          <p:cNvPr id="27" name="Group 27"/>
          <p:cNvGrpSpPr/>
          <p:nvPr/>
        </p:nvGrpSpPr>
        <p:grpSpPr>
          <a:xfrm rot="-10800000">
            <a:off x="-4725380" y="5468707"/>
            <a:ext cx="5754080" cy="8220114"/>
            <a:chOff x="0" y="0"/>
            <a:chExt cx="4445000" cy="6350000"/>
          </a:xfrm>
        </p:grpSpPr>
        <p:sp>
          <p:nvSpPr>
            <p:cNvPr id="28" name="Freeform 28"/>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grpSp>
        <p:nvGrpSpPr>
          <p:cNvPr id="29" name="Group 29"/>
          <p:cNvGrpSpPr/>
          <p:nvPr/>
        </p:nvGrpSpPr>
        <p:grpSpPr>
          <a:xfrm>
            <a:off x="16784633" y="-1958286"/>
            <a:ext cx="2060680" cy="2943829"/>
            <a:chOff x="0" y="0"/>
            <a:chExt cx="4445000" cy="6350000"/>
          </a:xfrm>
        </p:grpSpPr>
        <p:sp>
          <p:nvSpPr>
            <p:cNvPr id="30" name="Freeform 30"/>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grpSp>
        <p:nvGrpSpPr>
          <p:cNvPr id="31" name="Group 31"/>
          <p:cNvGrpSpPr/>
          <p:nvPr/>
        </p:nvGrpSpPr>
        <p:grpSpPr>
          <a:xfrm rot="5400000">
            <a:off x="15105211" y="69922"/>
            <a:ext cx="1030340" cy="1030340"/>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grpSp>
        <p:nvGrpSpPr>
          <p:cNvPr id="33" name="Group 33"/>
          <p:cNvGrpSpPr/>
          <p:nvPr/>
        </p:nvGrpSpPr>
        <p:grpSpPr>
          <a:xfrm rot="5400000">
            <a:off x="3867511" y="3014990"/>
            <a:ext cx="1224824" cy="1224824"/>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sp>
        <p:nvSpPr>
          <p:cNvPr id="35" name="TextBox 35"/>
          <p:cNvSpPr txBox="1"/>
          <p:nvPr/>
        </p:nvSpPr>
        <p:spPr>
          <a:xfrm>
            <a:off x="3751800" y="3157842"/>
            <a:ext cx="1456246" cy="850434"/>
          </a:xfrm>
          <a:prstGeom prst="rect">
            <a:avLst/>
          </a:prstGeom>
        </p:spPr>
        <p:txBody>
          <a:bodyPr lIns="0" tIns="0" rIns="0" bIns="0" rtlCol="0" anchor="t">
            <a:spAutoFit/>
          </a:bodyPr>
          <a:lstStyle/>
          <a:p>
            <a:pPr algn="ctr">
              <a:lnSpc>
                <a:spcPts val="6817"/>
              </a:lnSpc>
            </a:pPr>
            <a:r>
              <a:rPr lang="en-US" sz="4940" b="1">
                <a:solidFill>
                  <a:srgbClr val="FFFFFF"/>
                </a:solidFill>
                <a:latin typeface="Almarai Bold"/>
                <a:ea typeface="Almarai Bold"/>
                <a:cs typeface="Almarai Bold"/>
                <a:sym typeface="Almarai Bold"/>
              </a:rPr>
              <a:t>01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6005391" y="-56898"/>
            <a:ext cx="12010783" cy="10400796"/>
            <a:chOff x="0" y="0"/>
            <a:chExt cx="4282440" cy="3708400"/>
          </a:xfrm>
        </p:grpSpPr>
        <p:sp>
          <p:nvSpPr>
            <p:cNvPr id="3" name="Freeform 3"/>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102591" r="-102591"/>
              </a:stretch>
            </a:blipFill>
          </p:spPr>
        </p:sp>
      </p:grpSp>
      <p:grpSp>
        <p:nvGrpSpPr>
          <p:cNvPr id="4" name="Group 4"/>
          <p:cNvGrpSpPr/>
          <p:nvPr/>
        </p:nvGrpSpPr>
        <p:grpSpPr>
          <a:xfrm>
            <a:off x="-4976691" y="-56898"/>
            <a:ext cx="12010783" cy="10400796"/>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102591" r="-102591"/>
              </a:stretch>
            </a:blipFill>
          </p:spPr>
        </p:sp>
      </p:grpSp>
      <p:sp>
        <p:nvSpPr>
          <p:cNvPr id="6" name="Freeform 6"/>
          <p:cNvSpPr/>
          <p:nvPr/>
        </p:nvSpPr>
        <p:spPr>
          <a:xfrm>
            <a:off x="6303635" y="4568149"/>
            <a:ext cx="795031" cy="1150702"/>
          </a:xfrm>
          <a:custGeom>
            <a:avLst/>
            <a:gdLst/>
            <a:ahLst/>
            <a:cxnLst/>
            <a:rect l="l" t="t" r="r" b="b"/>
            <a:pathLst>
              <a:path w="795031" h="1150702">
                <a:moveTo>
                  <a:pt x="0" y="0"/>
                </a:moveTo>
                <a:lnTo>
                  <a:pt x="795030" y="0"/>
                </a:lnTo>
                <a:lnTo>
                  <a:pt x="795030" y="1150702"/>
                </a:lnTo>
                <a:lnTo>
                  <a:pt x="0" y="115070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7" name="Group 7"/>
          <p:cNvGrpSpPr/>
          <p:nvPr/>
        </p:nvGrpSpPr>
        <p:grpSpPr>
          <a:xfrm>
            <a:off x="17259300" y="2066886"/>
            <a:ext cx="5754080" cy="8220114"/>
            <a:chOff x="0" y="0"/>
            <a:chExt cx="4445000" cy="6350000"/>
          </a:xfrm>
        </p:grpSpPr>
        <p:sp>
          <p:nvSpPr>
            <p:cNvPr id="8" name="Freeform 8"/>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grpSp>
        <p:nvGrpSpPr>
          <p:cNvPr id="9" name="Group 9"/>
          <p:cNvGrpSpPr/>
          <p:nvPr/>
        </p:nvGrpSpPr>
        <p:grpSpPr>
          <a:xfrm rot="-10800000">
            <a:off x="-4133821" y="458092"/>
            <a:ext cx="5754080" cy="8220114"/>
            <a:chOff x="0" y="0"/>
            <a:chExt cx="4445000" cy="6350000"/>
          </a:xfrm>
        </p:grpSpPr>
        <p:sp>
          <p:nvSpPr>
            <p:cNvPr id="10" name="Freeform 10"/>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sp>
        <p:nvSpPr>
          <p:cNvPr id="11" name="TextBox 11"/>
          <p:cNvSpPr txBox="1"/>
          <p:nvPr/>
        </p:nvSpPr>
        <p:spPr>
          <a:xfrm>
            <a:off x="748359" y="3851925"/>
            <a:ext cx="6139126" cy="2040255"/>
          </a:xfrm>
          <a:prstGeom prst="rect">
            <a:avLst/>
          </a:prstGeom>
        </p:spPr>
        <p:txBody>
          <a:bodyPr lIns="0" tIns="0" rIns="0" bIns="0" rtlCol="0" anchor="t">
            <a:spAutoFit/>
          </a:bodyPr>
          <a:lstStyle/>
          <a:p>
            <a:pPr algn="l">
              <a:lnSpc>
                <a:spcPts val="7884"/>
              </a:lnSpc>
            </a:pPr>
            <a:r>
              <a:rPr lang="en-US" sz="6570" b="1">
                <a:solidFill>
                  <a:srgbClr val="FFFFFF"/>
                </a:solidFill>
                <a:latin typeface="Almarai Bold"/>
                <a:ea typeface="Almarai Bold"/>
                <a:cs typeface="Almarai Bold"/>
                <a:sym typeface="Almarai Bold"/>
              </a:rPr>
              <a:t>KEY</a:t>
            </a:r>
          </a:p>
          <a:p>
            <a:pPr marL="0" lvl="0" indent="0" algn="l">
              <a:lnSpc>
                <a:spcPts val="7884"/>
              </a:lnSpc>
              <a:spcBef>
                <a:spcPct val="0"/>
              </a:spcBef>
            </a:pPr>
            <a:r>
              <a:rPr lang="en-US" sz="6570" b="1">
                <a:solidFill>
                  <a:srgbClr val="FFFFFF"/>
                </a:solidFill>
                <a:latin typeface="Almarai Bold"/>
                <a:ea typeface="Almarai Bold"/>
                <a:cs typeface="Almarai Bold"/>
                <a:sym typeface="Almarai Bold"/>
              </a:rPr>
              <a:t>COMPONENTS</a:t>
            </a:r>
          </a:p>
        </p:txBody>
      </p:sp>
      <p:sp>
        <p:nvSpPr>
          <p:cNvPr id="12" name="TextBox 12"/>
          <p:cNvSpPr txBox="1"/>
          <p:nvPr/>
        </p:nvSpPr>
        <p:spPr>
          <a:xfrm>
            <a:off x="7393940" y="285596"/>
            <a:ext cx="10211344" cy="9796933"/>
          </a:xfrm>
          <a:prstGeom prst="rect">
            <a:avLst/>
          </a:prstGeom>
        </p:spPr>
        <p:txBody>
          <a:bodyPr lIns="0" tIns="0" rIns="0" bIns="0" rtlCol="0" anchor="t">
            <a:spAutoFit/>
          </a:bodyPr>
          <a:lstStyle/>
          <a:p>
            <a:pPr marL="580281" lvl="1" indent="-290140" algn="l">
              <a:lnSpc>
                <a:spcPts val="3709"/>
              </a:lnSpc>
              <a:buFont typeface="Arial"/>
              <a:buChar char="•"/>
            </a:pPr>
            <a:r>
              <a:rPr lang="en-US" sz="2687">
                <a:solidFill>
                  <a:srgbClr val="17E3B2"/>
                </a:solidFill>
                <a:latin typeface="Almarai"/>
                <a:ea typeface="Almarai"/>
                <a:cs typeface="Almarai"/>
                <a:sym typeface="Almarai"/>
              </a:rPr>
              <a:t>3-Phase Induction Motor</a:t>
            </a:r>
            <a:r>
              <a:rPr lang="en-US" sz="2687">
                <a:solidFill>
                  <a:srgbClr val="FFFFFF"/>
                </a:solidFill>
                <a:latin typeface="Almarai"/>
                <a:ea typeface="Almarai"/>
                <a:cs typeface="Almarai"/>
                <a:sym typeface="Almarai"/>
              </a:rPr>
              <a:t>: A small-scale, low-power motor (e.g., 0.25 HP or less) to represent the system.</a:t>
            </a:r>
          </a:p>
          <a:p>
            <a:pPr marL="580281" lvl="1" indent="-290140" algn="l">
              <a:lnSpc>
                <a:spcPts val="3709"/>
              </a:lnSpc>
              <a:buFont typeface="Arial"/>
              <a:buChar char="•"/>
            </a:pPr>
            <a:r>
              <a:rPr lang="en-US" sz="2687">
                <a:solidFill>
                  <a:srgbClr val="17E3B2"/>
                </a:solidFill>
                <a:latin typeface="Almarai"/>
                <a:ea typeface="Almarai"/>
                <a:cs typeface="Almarai"/>
                <a:sym typeface="Almarai"/>
              </a:rPr>
              <a:t>Variable Freque</a:t>
            </a:r>
            <a:r>
              <a:rPr lang="en-US" sz="2687">
                <a:solidFill>
                  <a:srgbClr val="FFFFFF"/>
                </a:solidFill>
                <a:latin typeface="Almarai"/>
                <a:ea typeface="Almarai"/>
                <a:cs typeface="Almarai"/>
                <a:sym typeface="Almarai"/>
              </a:rPr>
              <a:t>ncy Drive (VFD): This is the most critical component, as it controls the motor's speed and enables regenerative braking by varying the output frequency. The VFD must be a regenerative type or have a built-in braking resistor to handle the back-fed energy.</a:t>
            </a:r>
          </a:p>
          <a:p>
            <a:pPr marL="580281" lvl="1" indent="-290140" algn="l">
              <a:lnSpc>
                <a:spcPts val="3709"/>
              </a:lnSpc>
              <a:buFont typeface="Arial"/>
              <a:buChar char="•"/>
            </a:pPr>
            <a:r>
              <a:rPr lang="en-US" sz="2687">
                <a:solidFill>
                  <a:srgbClr val="17E3B2"/>
                </a:solidFill>
                <a:latin typeface="Almarai"/>
                <a:ea typeface="Almarai"/>
                <a:cs typeface="Almarai"/>
                <a:sym typeface="Almarai"/>
              </a:rPr>
              <a:t>3-Phase Power Supply</a:t>
            </a:r>
            <a:r>
              <a:rPr lang="en-US" sz="2687">
                <a:solidFill>
                  <a:srgbClr val="FFFFFF"/>
                </a:solidFill>
                <a:latin typeface="Almarai"/>
                <a:ea typeface="Almarai"/>
                <a:cs typeface="Almarai"/>
                <a:sym typeface="Almarai"/>
              </a:rPr>
              <a:t>: A suitable power source for the VFD and motor.</a:t>
            </a:r>
          </a:p>
          <a:p>
            <a:pPr marL="580281" lvl="1" indent="-290140" algn="l">
              <a:lnSpc>
                <a:spcPts val="3709"/>
              </a:lnSpc>
              <a:buFont typeface="Arial"/>
              <a:buChar char="•"/>
            </a:pPr>
            <a:r>
              <a:rPr lang="en-US" sz="2687">
                <a:solidFill>
                  <a:srgbClr val="17E3B2"/>
                </a:solidFill>
                <a:latin typeface="Almarai"/>
                <a:ea typeface="Almarai"/>
                <a:cs typeface="Almarai"/>
                <a:sym typeface="Almarai"/>
              </a:rPr>
              <a:t>Mechanical Load: </a:t>
            </a:r>
            <a:r>
              <a:rPr lang="en-US" sz="2687">
                <a:solidFill>
                  <a:srgbClr val="FFFFFF"/>
                </a:solidFill>
                <a:latin typeface="Almarai"/>
                <a:ea typeface="Almarai"/>
                <a:cs typeface="Almarai"/>
                <a:sym typeface="Almarai"/>
              </a:rPr>
              <a:t>Something to attach to the motor's shaft to simulate an external force or inertia.</a:t>
            </a:r>
          </a:p>
          <a:p>
            <a:pPr marL="580281" lvl="1" indent="-290140" algn="l">
              <a:lnSpc>
                <a:spcPts val="3709"/>
              </a:lnSpc>
              <a:buFont typeface="Arial"/>
              <a:buChar char="•"/>
            </a:pPr>
            <a:r>
              <a:rPr lang="en-US" sz="2687">
                <a:solidFill>
                  <a:srgbClr val="17E3B2"/>
                </a:solidFill>
                <a:latin typeface="Almarai"/>
                <a:ea typeface="Almarai"/>
                <a:cs typeface="Almarai"/>
                <a:sym typeface="Almarai"/>
              </a:rPr>
              <a:t>Microcontroller:</a:t>
            </a:r>
            <a:r>
              <a:rPr lang="en-US" sz="2687">
                <a:solidFill>
                  <a:srgbClr val="FFFFFF"/>
                </a:solidFill>
                <a:latin typeface="Almarai"/>
                <a:ea typeface="Almarai"/>
                <a:cs typeface="Almarai"/>
                <a:sym typeface="Almarai"/>
              </a:rPr>
              <a:t> (e.g., Arduino or Raspberry Pi) to control the VFD, manage sensor inputs, and display data.</a:t>
            </a:r>
          </a:p>
          <a:p>
            <a:pPr marL="580281" lvl="1" indent="-290140" algn="l">
              <a:lnSpc>
                <a:spcPts val="3709"/>
              </a:lnSpc>
              <a:buFont typeface="Arial"/>
              <a:buChar char="•"/>
            </a:pPr>
            <a:r>
              <a:rPr lang="en-US" sz="2687">
                <a:solidFill>
                  <a:srgbClr val="17E3B2"/>
                </a:solidFill>
                <a:latin typeface="Almarai"/>
                <a:ea typeface="Almarai"/>
                <a:cs typeface="Almarai"/>
                <a:sym typeface="Almarai"/>
              </a:rPr>
              <a:t>Current and Voltage Sensors:</a:t>
            </a:r>
            <a:r>
              <a:rPr lang="en-US" sz="2687">
                <a:solidFill>
                  <a:srgbClr val="FFFFFF"/>
                </a:solidFill>
                <a:latin typeface="Almarai"/>
                <a:ea typeface="Almarai"/>
                <a:cs typeface="Almarai"/>
                <a:sym typeface="Almarai"/>
              </a:rPr>
              <a:t> To measure the power flowing to and from the motor. A </a:t>
            </a:r>
          </a:p>
          <a:p>
            <a:pPr marL="580281" lvl="1" indent="-290140" algn="l">
              <a:lnSpc>
                <a:spcPts val="3709"/>
              </a:lnSpc>
              <a:buFont typeface="Arial"/>
              <a:buChar char="•"/>
            </a:pPr>
            <a:r>
              <a:rPr lang="en-US" sz="2687">
                <a:solidFill>
                  <a:srgbClr val="17E3B2"/>
                </a:solidFill>
                <a:latin typeface="Almarai"/>
                <a:ea typeface="Almarai"/>
                <a:cs typeface="Almarai"/>
                <a:sym typeface="Almarai"/>
              </a:rPr>
              <a:t>bi-directional energy meter </a:t>
            </a:r>
            <a:r>
              <a:rPr lang="en-US" sz="2687">
                <a:solidFill>
                  <a:srgbClr val="FFFFFF"/>
                </a:solidFill>
                <a:latin typeface="Almarai"/>
                <a:ea typeface="Almarai"/>
                <a:cs typeface="Almarai"/>
                <a:sym typeface="Almarai"/>
              </a:rPr>
              <a:t>is highly recommended.</a:t>
            </a:r>
          </a:p>
          <a:p>
            <a:pPr marL="580281" lvl="1" indent="-290140" algn="l">
              <a:lnSpc>
                <a:spcPts val="3709"/>
              </a:lnSpc>
              <a:buFont typeface="Arial"/>
              <a:buChar char="•"/>
            </a:pPr>
            <a:r>
              <a:rPr lang="en-US" sz="2687">
                <a:solidFill>
                  <a:srgbClr val="17E3B2"/>
                </a:solidFill>
                <a:latin typeface="Almarai"/>
                <a:ea typeface="Almarai"/>
                <a:cs typeface="Almarai"/>
                <a:sym typeface="Almarai"/>
              </a:rPr>
              <a:t>Speed Sensor</a:t>
            </a:r>
            <a:r>
              <a:rPr lang="en-US" sz="2687">
                <a:solidFill>
                  <a:srgbClr val="FFFFFF"/>
                </a:solidFill>
                <a:latin typeface="Almarai"/>
                <a:ea typeface="Almarai"/>
                <a:cs typeface="Almarai"/>
                <a:sym typeface="Almarai"/>
              </a:rPr>
              <a:t>: A tachometer or Hall effect sensor to measure the motor's rotational speed.</a:t>
            </a:r>
          </a:p>
          <a:p>
            <a:pPr marL="580281" lvl="1" indent="-290140" algn="l">
              <a:lnSpc>
                <a:spcPts val="3709"/>
              </a:lnSpc>
              <a:buFont typeface="Arial"/>
              <a:buChar char="•"/>
            </a:pPr>
            <a:r>
              <a:rPr lang="en-US" sz="2687">
                <a:solidFill>
                  <a:srgbClr val="17E3B2"/>
                </a:solidFill>
                <a:latin typeface="Almarai"/>
                <a:ea typeface="Almarai"/>
                <a:cs typeface="Almarai"/>
                <a:sym typeface="Almarai"/>
              </a:rPr>
              <a:t>Display:</a:t>
            </a:r>
            <a:r>
              <a:rPr lang="en-US" sz="2687">
                <a:solidFill>
                  <a:srgbClr val="FFFFFF"/>
                </a:solidFill>
                <a:latin typeface="Almarai"/>
                <a:ea typeface="Almarai"/>
                <a:cs typeface="Almarai"/>
                <a:sym typeface="Almarai"/>
              </a:rPr>
              <a:t> An LCD screen or a simple LED display to show key parameters like motor speed, power consumption, and power return.</a:t>
            </a:r>
          </a:p>
        </p:txBody>
      </p:sp>
      <p:grpSp>
        <p:nvGrpSpPr>
          <p:cNvPr id="13" name="Group 13"/>
          <p:cNvGrpSpPr/>
          <p:nvPr/>
        </p:nvGrpSpPr>
        <p:grpSpPr>
          <a:xfrm rot="5400000">
            <a:off x="748359" y="842062"/>
            <a:ext cx="1224824" cy="1224824"/>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sp>
        <p:nvSpPr>
          <p:cNvPr id="15" name="TextBox 15"/>
          <p:cNvSpPr txBox="1"/>
          <p:nvPr/>
        </p:nvSpPr>
        <p:spPr>
          <a:xfrm>
            <a:off x="748359" y="1090288"/>
            <a:ext cx="1224824" cy="661697"/>
          </a:xfrm>
          <a:prstGeom prst="rect">
            <a:avLst/>
          </a:prstGeom>
        </p:spPr>
        <p:txBody>
          <a:bodyPr lIns="0" tIns="0" rIns="0" bIns="0" rtlCol="0" anchor="t">
            <a:spAutoFit/>
          </a:bodyPr>
          <a:lstStyle/>
          <a:p>
            <a:pPr algn="ctr">
              <a:lnSpc>
                <a:spcPts val="5365"/>
              </a:lnSpc>
              <a:spcBef>
                <a:spcPct val="0"/>
              </a:spcBef>
            </a:pPr>
            <a:r>
              <a:rPr lang="en-US" sz="3887" b="1">
                <a:solidFill>
                  <a:srgbClr val="FFFFFF"/>
                </a:solidFill>
                <a:latin typeface="Almarai Bold"/>
                <a:ea typeface="Almarai Bold"/>
                <a:cs typeface="Almarai Bold"/>
                <a:sym typeface="Almarai Bold"/>
              </a:rPr>
              <a:t>02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17259300" y="2066886"/>
            <a:ext cx="5754080" cy="8220114"/>
            <a:chOff x="0" y="0"/>
            <a:chExt cx="4445000" cy="6350000"/>
          </a:xfrm>
        </p:grpSpPr>
        <p:sp>
          <p:nvSpPr>
            <p:cNvPr id="3" name="Freeform 3"/>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grpSp>
        <p:nvGrpSpPr>
          <p:cNvPr id="4" name="Group 4"/>
          <p:cNvGrpSpPr/>
          <p:nvPr/>
        </p:nvGrpSpPr>
        <p:grpSpPr>
          <a:xfrm>
            <a:off x="-5173055" y="-2043171"/>
            <a:ext cx="5754080" cy="8220114"/>
            <a:chOff x="0" y="0"/>
            <a:chExt cx="4445000" cy="6350000"/>
          </a:xfrm>
        </p:grpSpPr>
        <p:sp>
          <p:nvSpPr>
            <p:cNvPr id="5" name="Freeform 5"/>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sp>
        <p:nvSpPr>
          <p:cNvPr id="6" name="TextBox 6"/>
          <p:cNvSpPr txBox="1"/>
          <p:nvPr/>
        </p:nvSpPr>
        <p:spPr>
          <a:xfrm>
            <a:off x="2816552" y="778667"/>
            <a:ext cx="7297240" cy="775599"/>
          </a:xfrm>
          <a:prstGeom prst="rect">
            <a:avLst/>
          </a:prstGeom>
        </p:spPr>
        <p:txBody>
          <a:bodyPr lIns="0" tIns="0" rIns="0" bIns="0" rtlCol="0" anchor="t">
            <a:spAutoFit/>
          </a:bodyPr>
          <a:lstStyle/>
          <a:p>
            <a:pPr marL="0" lvl="0" indent="0" algn="l">
              <a:lnSpc>
                <a:spcPts val="6034"/>
              </a:lnSpc>
              <a:spcBef>
                <a:spcPct val="0"/>
              </a:spcBef>
            </a:pPr>
            <a:r>
              <a:rPr lang="en-US" sz="5028" b="1">
                <a:solidFill>
                  <a:srgbClr val="17E3B2"/>
                </a:solidFill>
                <a:latin typeface="Almarai Bold"/>
                <a:ea typeface="Almarai Bold"/>
                <a:cs typeface="Almarai Bold"/>
                <a:sym typeface="Almarai Bold"/>
              </a:rPr>
              <a:t>WORKING PRINCIPLE</a:t>
            </a:r>
          </a:p>
        </p:txBody>
      </p:sp>
      <p:grpSp>
        <p:nvGrpSpPr>
          <p:cNvPr id="7" name="Group 7"/>
          <p:cNvGrpSpPr/>
          <p:nvPr/>
        </p:nvGrpSpPr>
        <p:grpSpPr>
          <a:xfrm rot="5400000">
            <a:off x="1350288" y="559458"/>
            <a:ext cx="1224824" cy="1224824"/>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sp>
        <p:nvSpPr>
          <p:cNvPr id="9" name="TextBox 9"/>
          <p:cNvSpPr txBox="1"/>
          <p:nvPr/>
        </p:nvSpPr>
        <p:spPr>
          <a:xfrm>
            <a:off x="1234577" y="702310"/>
            <a:ext cx="1456246" cy="843870"/>
          </a:xfrm>
          <a:prstGeom prst="rect">
            <a:avLst/>
          </a:prstGeom>
        </p:spPr>
        <p:txBody>
          <a:bodyPr lIns="0" tIns="0" rIns="0" bIns="0" rtlCol="0" anchor="t">
            <a:spAutoFit/>
          </a:bodyPr>
          <a:lstStyle/>
          <a:p>
            <a:pPr algn="ctr">
              <a:lnSpc>
                <a:spcPts val="6817"/>
              </a:lnSpc>
            </a:pPr>
            <a:r>
              <a:rPr lang="en-US" sz="4940" b="1">
                <a:solidFill>
                  <a:srgbClr val="17E3B2"/>
                </a:solidFill>
                <a:latin typeface="Almarai Bold"/>
                <a:ea typeface="Almarai Bold"/>
                <a:cs typeface="Almarai Bold"/>
                <a:sym typeface="Almarai Bold"/>
              </a:rPr>
              <a:t>03</a:t>
            </a:r>
          </a:p>
        </p:txBody>
      </p:sp>
      <p:sp>
        <p:nvSpPr>
          <p:cNvPr id="10" name="TextBox 10"/>
          <p:cNvSpPr txBox="1"/>
          <p:nvPr/>
        </p:nvSpPr>
        <p:spPr>
          <a:xfrm>
            <a:off x="1028700" y="2423571"/>
            <a:ext cx="16635336" cy="7430543"/>
          </a:xfrm>
          <a:prstGeom prst="rect">
            <a:avLst/>
          </a:prstGeom>
        </p:spPr>
        <p:txBody>
          <a:bodyPr lIns="0" tIns="0" rIns="0" bIns="0" rtlCol="0" anchor="t">
            <a:spAutoFit/>
          </a:bodyPr>
          <a:lstStyle/>
          <a:p>
            <a:pPr marL="709818" lvl="1" indent="-354909" algn="l">
              <a:lnSpc>
                <a:spcPts val="4537"/>
              </a:lnSpc>
              <a:buAutoNum type="arabicPeriod"/>
            </a:pPr>
            <a:r>
              <a:rPr lang="en-US" sz="3287">
                <a:solidFill>
                  <a:srgbClr val="FFFFFF"/>
                </a:solidFill>
                <a:latin typeface="Almarai"/>
                <a:ea typeface="Almarai"/>
                <a:cs typeface="Almarai"/>
                <a:sym typeface="Almarai"/>
              </a:rPr>
              <a:t>The model demonstrates regenerative braking by showing a 3-phase induction motor acting as a generator.</a:t>
            </a:r>
          </a:p>
          <a:p>
            <a:pPr marL="709818" lvl="1" indent="-354909" algn="l">
              <a:lnSpc>
                <a:spcPts val="4537"/>
              </a:lnSpc>
              <a:buAutoNum type="arabicPeriod"/>
            </a:pPr>
            <a:r>
              <a:rPr lang="en-US" sz="3287">
                <a:solidFill>
                  <a:srgbClr val="FFFFFF"/>
                </a:solidFill>
                <a:latin typeface="Almarai"/>
                <a:ea typeface="Almarai"/>
                <a:cs typeface="Almarai"/>
                <a:sym typeface="Almarai"/>
              </a:rPr>
              <a:t>The project uses a Variable Frequency Drive (VFD) to control the motor.</a:t>
            </a:r>
          </a:p>
          <a:p>
            <a:pPr marL="709818" lvl="1" indent="-354909" algn="l">
              <a:lnSpc>
                <a:spcPts val="4537"/>
              </a:lnSpc>
              <a:buAutoNum type="arabicPeriod"/>
            </a:pPr>
            <a:r>
              <a:rPr lang="en-US" sz="3287">
                <a:solidFill>
                  <a:srgbClr val="FFFFFF"/>
                </a:solidFill>
                <a:latin typeface="Almarai"/>
                <a:ea typeface="Almarai"/>
                <a:cs typeface="Almarai"/>
                <a:sym typeface="Almarai"/>
              </a:rPr>
              <a:t>To initiate braking, the VFD rapidly reduces the frequency of the electricity it's providing.</a:t>
            </a:r>
          </a:p>
          <a:p>
            <a:pPr marL="709818" lvl="1" indent="-354909" algn="l">
              <a:lnSpc>
                <a:spcPts val="4537"/>
              </a:lnSpc>
              <a:buAutoNum type="arabicPeriod"/>
            </a:pPr>
            <a:r>
              <a:rPr lang="en-US" sz="3287">
                <a:solidFill>
                  <a:srgbClr val="FFFFFF"/>
                </a:solidFill>
                <a:latin typeface="Almarai"/>
                <a:ea typeface="Almarai"/>
                <a:cs typeface="Almarai"/>
                <a:sym typeface="Almarai"/>
              </a:rPr>
              <a:t>This makes the motor's actual speed faster than the new, lower synchronous speed.</a:t>
            </a:r>
          </a:p>
          <a:p>
            <a:pPr marL="709818" lvl="1" indent="-354909" algn="l">
              <a:lnSpc>
                <a:spcPts val="4537"/>
              </a:lnSpc>
              <a:buAutoNum type="arabicPeriod"/>
            </a:pPr>
            <a:r>
              <a:rPr lang="en-US" sz="3287">
                <a:solidFill>
                  <a:srgbClr val="FFFFFF"/>
                </a:solidFill>
                <a:latin typeface="Almarai"/>
                <a:ea typeface="Almarai"/>
                <a:cs typeface="Almarai"/>
                <a:sym typeface="Almarai"/>
              </a:rPr>
              <a:t>When this happens, the motor's role flips: it stops consuming power and starts generating it.</a:t>
            </a:r>
          </a:p>
          <a:p>
            <a:pPr marL="709818" lvl="1" indent="-354909" algn="l">
              <a:lnSpc>
                <a:spcPts val="4537"/>
              </a:lnSpc>
              <a:buAutoNum type="arabicPeriod"/>
            </a:pPr>
            <a:r>
              <a:rPr lang="en-US" sz="3287">
                <a:solidFill>
                  <a:srgbClr val="FFFFFF"/>
                </a:solidFill>
                <a:latin typeface="Almarai"/>
                <a:ea typeface="Almarai"/>
                <a:cs typeface="Almarai"/>
                <a:sym typeface="Almarai"/>
              </a:rPr>
              <a:t>The kinetic energy from the motor's rotation is converted back into electrical energy and sent through the VFD, which feeds it back to the power supply.</a:t>
            </a:r>
          </a:p>
          <a:p>
            <a:pPr marL="709818" lvl="1" indent="-354909" algn="l">
              <a:lnSpc>
                <a:spcPts val="4537"/>
              </a:lnSpc>
              <a:buAutoNum type="arabicPeriod"/>
            </a:pPr>
            <a:r>
              <a:rPr lang="en-US" sz="3287">
                <a:solidFill>
                  <a:srgbClr val="FFFFFF"/>
                </a:solidFill>
                <a:latin typeface="Almarai"/>
                <a:ea typeface="Almarai"/>
                <a:cs typeface="Almarai"/>
                <a:sym typeface="Almarai"/>
              </a:rPr>
              <a:t>A bi-directional energy meter is used to visually prove this. It shows positive power flow when the motor is running and negative power flow when it's braking, confirming that energy is being regenerated.</a:t>
            </a:r>
          </a:p>
          <a:p>
            <a:pPr algn="l">
              <a:lnSpc>
                <a:spcPts val="4537"/>
              </a:lnSpc>
            </a:pPr>
            <a:endParaRPr lang="en-US" sz="3287">
              <a:solidFill>
                <a:srgbClr val="FFFFFF"/>
              </a:solidFill>
              <a:latin typeface="Almarai"/>
              <a:ea typeface="Almarai"/>
              <a:cs typeface="Almarai"/>
              <a:sym typeface="Almara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17259300" y="2066886"/>
            <a:ext cx="5754080" cy="8220114"/>
            <a:chOff x="0" y="0"/>
            <a:chExt cx="4445000" cy="6350000"/>
          </a:xfrm>
        </p:grpSpPr>
        <p:sp>
          <p:nvSpPr>
            <p:cNvPr id="3" name="Freeform 3"/>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grpSp>
        <p:nvGrpSpPr>
          <p:cNvPr id="4" name="Group 4"/>
          <p:cNvGrpSpPr/>
          <p:nvPr/>
        </p:nvGrpSpPr>
        <p:grpSpPr>
          <a:xfrm rot="-10800000">
            <a:off x="-4725380" y="5468707"/>
            <a:ext cx="5754080" cy="8220114"/>
            <a:chOff x="0" y="0"/>
            <a:chExt cx="4445000" cy="6350000"/>
          </a:xfrm>
        </p:grpSpPr>
        <p:sp>
          <p:nvSpPr>
            <p:cNvPr id="5" name="Freeform 5"/>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grpSp>
        <p:nvGrpSpPr>
          <p:cNvPr id="6" name="Group 6"/>
          <p:cNvGrpSpPr/>
          <p:nvPr/>
        </p:nvGrpSpPr>
        <p:grpSpPr>
          <a:xfrm rot="5400000">
            <a:off x="394664" y="416288"/>
            <a:ext cx="1224824" cy="122482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sp>
        <p:nvSpPr>
          <p:cNvPr id="8" name="Freeform 8"/>
          <p:cNvSpPr/>
          <p:nvPr/>
        </p:nvSpPr>
        <p:spPr>
          <a:xfrm>
            <a:off x="4960783" y="1446495"/>
            <a:ext cx="8483325" cy="8483325"/>
          </a:xfrm>
          <a:custGeom>
            <a:avLst/>
            <a:gdLst/>
            <a:ahLst/>
            <a:cxnLst/>
            <a:rect l="l" t="t" r="r" b="b"/>
            <a:pathLst>
              <a:path w="8483325" h="8483325">
                <a:moveTo>
                  <a:pt x="0" y="0"/>
                </a:moveTo>
                <a:lnTo>
                  <a:pt x="8483325" y="0"/>
                </a:lnTo>
                <a:lnTo>
                  <a:pt x="8483325" y="8483325"/>
                </a:lnTo>
                <a:lnTo>
                  <a:pt x="0" y="8483325"/>
                </a:lnTo>
                <a:lnTo>
                  <a:pt x="0" y="0"/>
                </a:lnTo>
                <a:close/>
              </a:path>
            </a:pathLst>
          </a:custGeom>
          <a:blipFill>
            <a:blip r:embed="rId3"/>
            <a:stretch>
              <a:fillRect/>
            </a:stretch>
          </a:blipFill>
        </p:spPr>
      </p:sp>
      <p:sp>
        <p:nvSpPr>
          <p:cNvPr id="9" name="TextBox 9"/>
          <p:cNvSpPr txBox="1"/>
          <p:nvPr/>
        </p:nvSpPr>
        <p:spPr>
          <a:xfrm>
            <a:off x="1873053" y="473347"/>
            <a:ext cx="16927101" cy="805815"/>
          </a:xfrm>
          <a:prstGeom prst="rect">
            <a:avLst/>
          </a:prstGeom>
        </p:spPr>
        <p:txBody>
          <a:bodyPr lIns="0" tIns="0" rIns="0" bIns="0" rtlCol="0" anchor="t">
            <a:spAutoFit/>
          </a:bodyPr>
          <a:lstStyle/>
          <a:p>
            <a:pPr marL="0" lvl="0" indent="0" algn="l">
              <a:lnSpc>
                <a:spcPts val="6271"/>
              </a:lnSpc>
              <a:spcBef>
                <a:spcPct val="0"/>
              </a:spcBef>
            </a:pPr>
            <a:r>
              <a:rPr lang="en-US" sz="5226" b="1">
                <a:solidFill>
                  <a:srgbClr val="17E3B2"/>
                </a:solidFill>
                <a:latin typeface="Almarai Bold"/>
                <a:ea typeface="Almarai Bold"/>
                <a:cs typeface="Almarai Bold"/>
                <a:sym typeface="Almarai Bold"/>
              </a:rPr>
              <a:t>FLOWCHART: PROJECT IMPLEMENTATION</a:t>
            </a:r>
          </a:p>
        </p:txBody>
      </p:sp>
      <p:sp>
        <p:nvSpPr>
          <p:cNvPr id="10" name="TextBox 10"/>
          <p:cNvSpPr txBox="1"/>
          <p:nvPr/>
        </p:nvSpPr>
        <p:spPr>
          <a:xfrm>
            <a:off x="278953" y="578190"/>
            <a:ext cx="1456246" cy="662840"/>
          </a:xfrm>
          <a:prstGeom prst="rect">
            <a:avLst/>
          </a:prstGeom>
        </p:spPr>
        <p:txBody>
          <a:bodyPr lIns="0" tIns="0" rIns="0" bIns="0" rtlCol="0" anchor="t">
            <a:spAutoFit/>
          </a:bodyPr>
          <a:lstStyle/>
          <a:p>
            <a:pPr algn="ctr">
              <a:lnSpc>
                <a:spcPts val="5181"/>
              </a:lnSpc>
            </a:pPr>
            <a:r>
              <a:rPr lang="en-US" sz="3754" b="1">
                <a:solidFill>
                  <a:srgbClr val="FFFFFF"/>
                </a:solidFill>
                <a:latin typeface="Almarai Bold"/>
                <a:ea typeface="Almarai Bold"/>
                <a:cs typeface="Almarai Bold"/>
                <a:sym typeface="Almarai Bold"/>
              </a:rPr>
              <a:t>04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602489" y="4549372"/>
            <a:ext cx="1149383" cy="114938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881"/>
                </a:lnSpc>
              </a:pPr>
              <a:endParaRPr/>
            </a:p>
          </p:txBody>
        </p:sp>
      </p:grpSp>
      <p:grpSp>
        <p:nvGrpSpPr>
          <p:cNvPr id="5" name="Group 5"/>
          <p:cNvGrpSpPr/>
          <p:nvPr/>
        </p:nvGrpSpPr>
        <p:grpSpPr>
          <a:xfrm>
            <a:off x="1773337" y="6420110"/>
            <a:ext cx="1149383" cy="114938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881"/>
                </a:lnSpc>
              </a:pPr>
              <a:endParaRPr/>
            </a:p>
          </p:txBody>
        </p:sp>
      </p:grpSp>
      <p:grpSp>
        <p:nvGrpSpPr>
          <p:cNvPr id="8" name="Group 8"/>
          <p:cNvGrpSpPr/>
          <p:nvPr/>
        </p:nvGrpSpPr>
        <p:grpSpPr>
          <a:xfrm>
            <a:off x="10068079" y="-1489570"/>
            <a:ext cx="4227260" cy="6038942"/>
            <a:chOff x="0" y="0"/>
            <a:chExt cx="4445000" cy="6350000"/>
          </a:xfrm>
        </p:grpSpPr>
        <p:sp>
          <p:nvSpPr>
            <p:cNvPr id="9" name="Freeform 9"/>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grpSp>
        <p:nvGrpSpPr>
          <p:cNvPr id="10" name="Group 10"/>
          <p:cNvGrpSpPr/>
          <p:nvPr/>
        </p:nvGrpSpPr>
        <p:grpSpPr>
          <a:xfrm rot="5400000">
            <a:off x="16605949" y="8402070"/>
            <a:ext cx="841991" cy="84199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grpSp>
        <p:nvGrpSpPr>
          <p:cNvPr id="12" name="Group 12"/>
          <p:cNvGrpSpPr/>
          <p:nvPr/>
        </p:nvGrpSpPr>
        <p:grpSpPr>
          <a:xfrm>
            <a:off x="-5173055" y="-2043171"/>
            <a:ext cx="5754080" cy="8220114"/>
            <a:chOff x="0" y="0"/>
            <a:chExt cx="4445000" cy="6350000"/>
          </a:xfrm>
        </p:grpSpPr>
        <p:sp>
          <p:nvSpPr>
            <p:cNvPr id="13" name="Freeform 13"/>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sp>
        <p:nvSpPr>
          <p:cNvPr id="14" name="TextBox 14"/>
          <p:cNvSpPr txBox="1"/>
          <p:nvPr/>
        </p:nvSpPr>
        <p:spPr>
          <a:xfrm>
            <a:off x="2766869" y="1477050"/>
            <a:ext cx="5763947" cy="961476"/>
          </a:xfrm>
          <a:prstGeom prst="rect">
            <a:avLst/>
          </a:prstGeom>
        </p:spPr>
        <p:txBody>
          <a:bodyPr lIns="0" tIns="0" rIns="0" bIns="0" rtlCol="0" anchor="t">
            <a:spAutoFit/>
          </a:bodyPr>
          <a:lstStyle/>
          <a:p>
            <a:pPr marL="0" lvl="0" indent="0" algn="l">
              <a:lnSpc>
                <a:spcPts val="7473"/>
              </a:lnSpc>
              <a:spcBef>
                <a:spcPct val="0"/>
              </a:spcBef>
            </a:pPr>
            <a:r>
              <a:rPr lang="en-US" sz="6227" b="1">
                <a:solidFill>
                  <a:srgbClr val="FFFFFF"/>
                </a:solidFill>
                <a:latin typeface="Almarai Bold"/>
                <a:ea typeface="Almarai Bold"/>
                <a:cs typeface="Almarai Bold"/>
                <a:sym typeface="Almarai Bold"/>
              </a:rPr>
              <a:t>CONCLUSION</a:t>
            </a:r>
          </a:p>
        </p:txBody>
      </p:sp>
      <p:sp>
        <p:nvSpPr>
          <p:cNvPr id="15" name="TextBox 15"/>
          <p:cNvSpPr txBox="1"/>
          <p:nvPr/>
        </p:nvSpPr>
        <p:spPr>
          <a:xfrm>
            <a:off x="581025" y="4635689"/>
            <a:ext cx="1109194" cy="912150"/>
          </a:xfrm>
          <a:prstGeom prst="rect">
            <a:avLst/>
          </a:prstGeom>
        </p:spPr>
        <p:txBody>
          <a:bodyPr lIns="0" tIns="0" rIns="0" bIns="0" rtlCol="0" anchor="t">
            <a:spAutoFit/>
          </a:bodyPr>
          <a:lstStyle/>
          <a:p>
            <a:pPr marL="0" lvl="0" indent="0" algn="ctr">
              <a:lnSpc>
                <a:spcPts val="7311"/>
              </a:lnSpc>
              <a:spcBef>
                <a:spcPct val="0"/>
              </a:spcBef>
            </a:pPr>
            <a:r>
              <a:rPr lang="en-US" sz="5297" b="1">
                <a:solidFill>
                  <a:srgbClr val="051D40"/>
                </a:solidFill>
                <a:latin typeface="Almarai Bold"/>
                <a:ea typeface="Almarai Bold"/>
                <a:cs typeface="Almarai Bold"/>
                <a:sym typeface="Almarai Bold"/>
              </a:rPr>
              <a:t>01</a:t>
            </a:r>
          </a:p>
        </p:txBody>
      </p:sp>
      <p:sp>
        <p:nvSpPr>
          <p:cNvPr id="16" name="TextBox 16"/>
          <p:cNvSpPr txBox="1"/>
          <p:nvPr/>
        </p:nvSpPr>
        <p:spPr>
          <a:xfrm>
            <a:off x="1751872" y="6506427"/>
            <a:ext cx="1109194" cy="912150"/>
          </a:xfrm>
          <a:prstGeom prst="rect">
            <a:avLst/>
          </a:prstGeom>
        </p:spPr>
        <p:txBody>
          <a:bodyPr lIns="0" tIns="0" rIns="0" bIns="0" rtlCol="0" anchor="t">
            <a:spAutoFit/>
          </a:bodyPr>
          <a:lstStyle/>
          <a:p>
            <a:pPr marL="0" lvl="0" indent="0" algn="ctr">
              <a:lnSpc>
                <a:spcPts val="7311"/>
              </a:lnSpc>
              <a:spcBef>
                <a:spcPct val="0"/>
              </a:spcBef>
            </a:pPr>
            <a:r>
              <a:rPr lang="en-US" sz="5297" b="1">
                <a:solidFill>
                  <a:srgbClr val="051D40"/>
                </a:solidFill>
                <a:latin typeface="Almarai Bold"/>
                <a:ea typeface="Almarai Bold"/>
                <a:cs typeface="Almarai Bold"/>
                <a:sym typeface="Almarai Bold"/>
              </a:rPr>
              <a:t>02</a:t>
            </a:r>
          </a:p>
        </p:txBody>
      </p:sp>
      <p:sp>
        <p:nvSpPr>
          <p:cNvPr id="17" name="TextBox 17"/>
          <p:cNvSpPr txBox="1"/>
          <p:nvPr/>
        </p:nvSpPr>
        <p:spPr>
          <a:xfrm>
            <a:off x="2124440" y="4592147"/>
            <a:ext cx="7737511" cy="2088387"/>
          </a:xfrm>
          <a:prstGeom prst="rect">
            <a:avLst/>
          </a:prstGeom>
        </p:spPr>
        <p:txBody>
          <a:bodyPr lIns="0" tIns="0" rIns="0" bIns="0" rtlCol="0" anchor="t">
            <a:spAutoFit/>
          </a:bodyPr>
          <a:lstStyle/>
          <a:p>
            <a:pPr algn="l">
              <a:lnSpc>
                <a:spcPts val="4176"/>
              </a:lnSpc>
            </a:pPr>
            <a:r>
              <a:rPr lang="en-US" sz="3026">
                <a:solidFill>
                  <a:srgbClr val="FFFFFF"/>
                </a:solidFill>
                <a:latin typeface="Almarai"/>
                <a:ea typeface="Almarai"/>
                <a:cs typeface="Almarai"/>
                <a:sym typeface="Almarai"/>
              </a:rPr>
              <a:t>The project successfully demonstrates the principle of regenerative braking in a 3-phase induction motor.</a:t>
            </a:r>
          </a:p>
          <a:p>
            <a:pPr marL="0" lvl="0" indent="0" algn="l">
              <a:lnSpc>
                <a:spcPts val="4176"/>
              </a:lnSpc>
              <a:spcBef>
                <a:spcPct val="0"/>
              </a:spcBef>
            </a:pPr>
            <a:endParaRPr lang="en-US" sz="3026">
              <a:solidFill>
                <a:srgbClr val="FFFFFF"/>
              </a:solidFill>
              <a:latin typeface="Almarai"/>
              <a:ea typeface="Almarai"/>
              <a:cs typeface="Almarai"/>
              <a:sym typeface="Almarai"/>
            </a:endParaRPr>
          </a:p>
        </p:txBody>
      </p:sp>
      <p:sp>
        <p:nvSpPr>
          <p:cNvPr id="18" name="TextBox 18"/>
          <p:cNvSpPr txBox="1"/>
          <p:nvPr/>
        </p:nvSpPr>
        <p:spPr>
          <a:xfrm>
            <a:off x="3295287" y="6462885"/>
            <a:ext cx="7737511" cy="2613493"/>
          </a:xfrm>
          <a:prstGeom prst="rect">
            <a:avLst/>
          </a:prstGeom>
        </p:spPr>
        <p:txBody>
          <a:bodyPr lIns="0" tIns="0" rIns="0" bIns="0" rtlCol="0" anchor="t">
            <a:spAutoFit/>
          </a:bodyPr>
          <a:lstStyle/>
          <a:p>
            <a:pPr marL="653444" lvl="1" indent="-326722" algn="l">
              <a:lnSpc>
                <a:spcPts val="4176"/>
              </a:lnSpc>
              <a:buFont typeface="Arial"/>
              <a:buChar char="•"/>
            </a:pPr>
            <a:r>
              <a:rPr lang="en-US" sz="3026">
                <a:solidFill>
                  <a:srgbClr val="FFFFFF"/>
                </a:solidFill>
                <a:latin typeface="Almarai"/>
                <a:ea typeface="Almarai"/>
                <a:cs typeface="Almarai"/>
                <a:sym typeface="Almarai"/>
              </a:rPr>
              <a:t>It provides a tangible model that proves the motor can function as a generator, converting kinetic energy back into electrical energy.</a:t>
            </a:r>
          </a:p>
          <a:p>
            <a:pPr marL="0" lvl="0" indent="0" algn="l">
              <a:lnSpc>
                <a:spcPts val="4176"/>
              </a:lnSpc>
              <a:spcBef>
                <a:spcPct val="0"/>
              </a:spcBef>
            </a:pPr>
            <a:endParaRPr lang="en-US" sz="3026">
              <a:solidFill>
                <a:srgbClr val="FFFFFF"/>
              </a:solidFill>
              <a:latin typeface="Almarai"/>
              <a:ea typeface="Almarai"/>
              <a:cs typeface="Almarai"/>
              <a:sym typeface="Almarai"/>
            </a:endParaRPr>
          </a:p>
        </p:txBody>
      </p:sp>
      <p:grpSp>
        <p:nvGrpSpPr>
          <p:cNvPr id="19" name="Group 19"/>
          <p:cNvGrpSpPr/>
          <p:nvPr/>
        </p:nvGrpSpPr>
        <p:grpSpPr>
          <a:xfrm>
            <a:off x="12543681" y="1640457"/>
            <a:ext cx="4904260" cy="7006086"/>
            <a:chOff x="0" y="0"/>
            <a:chExt cx="4445000" cy="6350000"/>
          </a:xfrm>
        </p:grpSpPr>
        <p:sp>
          <p:nvSpPr>
            <p:cNvPr id="20" name="Freeform 20"/>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57142" r="-57142"/>
              </a:stretch>
            </a:blipFill>
          </p:spPr>
        </p:sp>
      </p:grpSp>
      <p:grpSp>
        <p:nvGrpSpPr>
          <p:cNvPr id="21" name="Group 21"/>
          <p:cNvGrpSpPr/>
          <p:nvPr/>
        </p:nvGrpSpPr>
        <p:grpSpPr>
          <a:xfrm rot="-10800000">
            <a:off x="16605949" y="1202778"/>
            <a:ext cx="5246522" cy="7495031"/>
            <a:chOff x="0" y="0"/>
            <a:chExt cx="4445000" cy="6350000"/>
          </a:xfrm>
        </p:grpSpPr>
        <p:sp>
          <p:nvSpPr>
            <p:cNvPr id="22" name="Freeform 22"/>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grpSp>
        <p:nvGrpSpPr>
          <p:cNvPr id="23" name="Group 23"/>
          <p:cNvGrpSpPr/>
          <p:nvPr/>
        </p:nvGrpSpPr>
        <p:grpSpPr>
          <a:xfrm rot="5400000">
            <a:off x="1144411" y="1337805"/>
            <a:ext cx="1224824" cy="122482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sp>
        <p:nvSpPr>
          <p:cNvPr id="25" name="TextBox 25"/>
          <p:cNvSpPr txBox="1"/>
          <p:nvPr/>
        </p:nvSpPr>
        <p:spPr>
          <a:xfrm>
            <a:off x="1028700" y="1480657"/>
            <a:ext cx="1456246" cy="850434"/>
          </a:xfrm>
          <a:prstGeom prst="rect">
            <a:avLst/>
          </a:prstGeom>
        </p:spPr>
        <p:txBody>
          <a:bodyPr lIns="0" tIns="0" rIns="0" bIns="0" rtlCol="0" anchor="t">
            <a:spAutoFit/>
          </a:bodyPr>
          <a:lstStyle/>
          <a:p>
            <a:pPr algn="ctr">
              <a:lnSpc>
                <a:spcPts val="6817"/>
              </a:lnSpc>
            </a:pPr>
            <a:r>
              <a:rPr lang="en-US" sz="4940" b="1">
                <a:solidFill>
                  <a:srgbClr val="FFFFFF"/>
                </a:solidFill>
                <a:latin typeface="Almarai Bold"/>
                <a:ea typeface="Almarai Bold"/>
                <a:cs typeface="Almarai Bold"/>
                <a:sym typeface="Almarai Bold"/>
              </a:rPr>
              <a:t>05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17259300" y="2066886"/>
            <a:ext cx="5754080" cy="8220114"/>
            <a:chOff x="0" y="0"/>
            <a:chExt cx="4445000" cy="6350000"/>
          </a:xfrm>
        </p:grpSpPr>
        <p:sp>
          <p:nvSpPr>
            <p:cNvPr id="3" name="Freeform 3"/>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grpSp>
        <p:nvGrpSpPr>
          <p:cNvPr id="4" name="Group 4"/>
          <p:cNvGrpSpPr/>
          <p:nvPr/>
        </p:nvGrpSpPr>
        <p:grpSpPr>
          <a:xfrm>
            <a:off x="-5173055" y="-2043171"/>
            <a:ext cx="5754080" cy="8220114"/>
            <a:chOff x="0" y="0"/>
            <a:chExt cx="4445000" cy="6350000"/>
          </a:xfrm>
        </p:grpSpPr>
        <p:sp>
          <p:nvSpPr>
            <p:cNvPr id="5" name="Freeform 5"/>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sp>
      </p:grpSp>
      <p:sp>
        <p:nvSpPr>
          <p:cNvPr id="6" name="TextBox 6"/>
          <p:cNvSpPr txBox="1"/>
          <p:nvPr/>
        </p:nvSpPr>
        <p:spPr>
          <a:xfrm>
            <a:off x="2816552" y="778667"/>
            <a:ext cx="7297240" cy="775599"/>
          </a:xfrm>
          <a:prstGeom prst="rect">
            <a:avLst/>
          </a:prstGeom>
        </p:spPr>
        <p:txBody>
          <a:bodyPr lIns="0" tIns="0" rIns="0" bIns="0" rtlCol="0" anchor="t">
            <a:spAutoFit/>
          </a:bodyPr>
          <a:lstStyle/>
          <a:p>
            <a:pPr marL="0" lvl="0" indent="0" algn="l">
              <a:lnSpc>
                <a:spcPts val="6034"/>
              </a:lnSpc>
              <a:spcBef>
                <a:spcPct val="0"/>
              </a:spcBef>
            </a:pPr>
            <a:r>
              <a:rPr lang="en-US" sz="5028" b="1">
                <a:solidFill>
                  <a:srgbClr val="17E3B2"/>
                </a:solidFill>
                <a:latin typeface="Almarai Bold"/>
                <a:ea typeface="Almarai Bold"/>
                <a:cs typeface="Almarai Bold"/>
                <a:sym typeface="Almarai Bold"/>
              </a:rPr>
              <a:t>KEY TAKEAWAYS</a:t>
            </a:r>
          </a:p>
        </p:txBody>
      </p:sp>
      <p:grpSp>
        <p:nvGrpSpPr>
          <p:cNvPr id="7" name="Group 7"/>
          <p:cNvGrpSpPr/>
          <p:nvPr/>
        </p:nvGrpSpPr>
        <p:grpSpPr>
          <a:xfrm rot="5400000">
            <a:off x="1350288" y="559458"/>
            <a:ext cx="1224824" cy="1224824"/>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sp>
      </p:grpSp>
      <p:sp>
        <p:nvSpPr>
          <p:cNvPr id="9" name="TextBox 9"/>
          <p:cNvSpPr txBox="1"/>
          <p:nvPr/>
        </p:nvSpPr>
        <p:spPr>
          <a:xfrm>
            <a:off x="1234577" y="702310"/>
            <a:ext cx="1456246" cy="843870"/>
          </a:xfrm>
          <a:prstGeom prst="rect">
            <a:avLst/>
          </a:prstGeom>
        </p:spPr>
        <p:txBody>
          <a:bodyPr lIns="0" tIns="0" rIns="0" bIns="0" rtlCol="0" anchor="t">
            <a:spAutoFit/>
          </a:bodyPr>
          <a:lstStyle/>
          <a:p>
            <a:pPr algn="ctr">
              <a:lnSpc>
                <a:spcPts val="6817"/>
              </a:lnSpc>
            </a:pPr>
            <a:r>
              <a:rPr lang="en-US" sz="4940" b="1">
                <a:solidFill>
                  <a:srgbClr val="17E3B2"/>
                </a:solidFill>
                <a:latin typeface="Almarai Bold"/>
                <a:ea typeface="Almarai Bold"/>
                <a:cs typeface="Almarai Bold"/>
                <a:sym typeface="Almarai Bold"/>
              </a:rPr>
              <a:t>03</a:t>
            </a:r>
          </a:p>
        </p:txBody>
      </p:sp>
      <p:sp>
        <p:nvSpPr>
          <p:cNvPr id="10" name="TextBox 10"/>
          <p:cNvSpPr txBox="1"/>
          <p:nvPr/>
        </p:nvSpPr>
        <p:spPr>
          <a:xfrm>
            <a:off x="826332" y="1708082"/>
            <a:ext cx="16635336" cy="8604023"/>
          </a:xfrm>
          <a:prstGeom prst="rect">
            <a:avLst/>
          </a:prstGeom>
        </p:spPr>
        <p:txBody>
          <a:bodyPr lIns="0" tIns="0" rIns="0" bIns="0" rtlCol="0" anchor="t">
            <a:spAutoFit/>
          </a:bodyPr>
          <a:lstStyle/>
          <a:p>
            <a:pPr marL="709818" lvl="1" indent="-354909" algn="l">
              <a:lnSpc>
                <a:spcPts val="4537"/>
              </a:lnSpc>
              <a:buFont typeface="Arial"/>
              <a:buChar char="•"/>
            </a:pPr>
            <a:r>
              <a:rPr lang="en-US" sz="3287" b="1" u="sng">
                <a:solidFill>
                  <a:srgbClr val="BFBEBF"/>
                </a:solidFill>
                <a:latin typeface="Almarai Bold"/>
                <a:ea typeface="Almarai Bold"/>
                <a:cs typeface="Almarai Bold"/>
                <a:sym typeface="Almarai Bold"/>
              </a:rPr>
              <a:t>Energy Efficiency</a:t>
            </a:r>
            <a:r>
              <a:rPr lang="en-US" sz="3287">
                <a:solidFill>
                  <a:srgbClr val="BFBEBF"/>
                </a:solidFill>
                <a:latin typeface="Almarai"/>
                <a:ea typeface="Almarai"/>
                <a:cs typeface="Almarai"/>
                <a:sym typeface="Almarai"/>
              </a:rPr>
              <a:t>:</a:t>
            </a:r>
            <a:r>
              <a:rPr lang="en-US" sz="3287">
                <a:solidFill>
                  <a:srgbClr val="FFFFFF"/>
                </a:solidFill>
                <a:latin typeface="Almarai"/>
                <a:ea typeface="Almarai"/>
                <a:cs typeface="Almarai"/>
                <a:sym typeface="Almarai"/>
              </a:rPr>
              <a:t> Regenerative braking is a highly efficient method of deceleration, as it conserves energy instead of dissipating it as heat.</a:t>
            </a:r>
          </a:p>
          <a:p>
            <a:pPr algn="l">
              <a:lnSpc>
                <a:spcPts val="4537"/>
              </a:lnSpc>
            </a:pPr>
            <a:endParaRPr lang="en-US" sz="3287">
              <a:solidFill>
                <a:srgbClr val="FFFFFF"/>
              </a:solidFill>
              <a:latin typeface="Almarai"/>
              <a:ea typeface="Almarai"/>
              <a:cs typeface="Almarai"/>
              <a:sym typeface="Almarai"/>
            </a:endParaRPr>
          </a:p>
          <a:p>
            <a:pPr marL="709818" lvl="1" indent="-354909" algn="l">
              <a:lnSpc>
                <a:spcPts val="4537"/>
              </a:lnSpc>
              <a:buFont typeface="Arial"/>
              <a:buChar char="•"/>
            </a:pPr>
            <a:r>
              <a:rPr lang="en-US" sz="3287" b="1" u="sng">
                <a:solidFill>
                  <a:srgbClr val="BFBEBF"/>
                </a:solidFill>
                <a:latin typeface="Almarai Bold"/>
                <a:ea typeface="Almarai Bold"/>
                <a:cs typeface="Almarai Bold"/>
                <a:sym typeface="Almarai Bold"/>
              </a:rPr>
              <a:t>Control with a VFD</a:t>
            </a:r>
            <a:r>
              <a:rPr lang="en-US" sz="3287" b="1" u="sng">
                <a:solidFill>
                  <a:srgbClr val="FFFFFF"/>
                </a:solidFill>
                <a:latin typeface="Almarai Bold"/>
                <a:ea typeface="Almarai Bold"/>
                <a:cs typeface="Almarai Bold"/>
                <a:sym typeface="Almarai Bold"/>
              </a:rPr>
              <a:t>: </a:t>
            </a:r>
            <a:r>
              <a:rPr lang="en-US" sz="3287">
                <a:solidFill>
                  <a:srgbClr val="FFFFFF"/>
                </a:solidFill>
                <a:latin typeface="Almarai"/>
                <a:ea typeface="Almarai"/>
                <a:cs typeface="Almarai"/>
                <a:sym typeface="Almarai"/>
              </a:rPr>
              <a:t>The hardware model validates the critical role of the Variable Frequency Drive (VFD) in enabling controlled regenerative braking by manipulating frequency to force the motor into a generating state.</a:t>
            </a:r>
          </a:p>
          <a:p>
            <a:pPr algn="l">
              <a:lnSpc>
                <a:spcPts val="4537"/>
              </a:lnSpc>
            </a:pPr>
            <a:endParaRPr lang="en-US" sz="3287">
              <a:solidFill>
                <a:srgbClr val="FFFFFF"/>
              </a:solidFill>
              <a:latin typeface="Almarai"/>
              <a:ea typeface="Almarai"/>
              <a:cs typeface="Almarai"/>
              <a:sym typeface="Almarai"/>
            </a:endParaRPr>
          </a:p>
          <a:p>
            <a:pPr marL="709818" lvl="1" indent="-354909" algn="l">
              <a:lnSpc>
                <a:spcPts val="4537"/>
              </a:lnSpc>
              <a:buFont typeface="Arial"/>
              <a:buChar char="•"/>
            </a:pPr>
            <a:r>
              <a:rPr lang="en-US" sz="3287" b="1" u="sng">
                <a:solidFill>
                  <a:srgbClr val="BFBEBF"/>
                </a:solidFill>
                <a:latin typeface="Almarai Bold"/>
                <a:ea typeface="Almarai Bold"/>
                <a:cs typeface="Almarai Bold"/>
                <a:sym typeface="Almarai Bold"/>
              </a:rPr>
              <a:t>Real-World Application:</a:t>
            </a:r>
            <a:r>
              <a:rPr lang="en-US" sz="3287">
                <a:solidFill>
                  <a:srgbClr val="FFFFFF"/>
                </a:solidFill>
                <a:latin typeface="Almarai"/>
                <a:ea typeface="Almarai"/>
                <a:cs typeface="Almarai"/>
                <a:sym typeface="Almarai"/>
              </a:rPr>
              <a:t> This project highlights the core technology used in electric vehicles, hybrid cars, and industrial applications like elevators and cranes, where braking energy can be recovered and reused.</a:t>
            </a:r>
          </a:p>
          <a:p>
            <a:pPr algn="l">
              <a:lnSpc>
                <a:spcPts val="4537"/>
              </a:lnSpc>
            </a:pPr>
            <a:endParaRPr lang="en-US" sz="3287">
              <a:solidFill>
                <a:srgbClr val="FFFFFF"/>
              </a:solidFill>
              <a:latin typeface="Almarai"/>
              <a:ea typeface="Almarai"/>
              <a:cs typeface="Almarai"/>
              <a:sym typeface="Almarai"/>
            </a:endParaRPr>
          </a:p>
          <a:p>
            <a:pPr marL="709818" lvl="1" indent="-354909" algn="l">
              <a:lnSpc>
                <a:spcPts val="4537"/>
              </a:lnSpc>
              <a:buFont typeface="Arial"/>
              <a:buChar char="•"/>
            </a:pPr>
            <a:r>
              <a:rPr lang="en-US" sz="3287" b="1" u="sng">
                <a:solidFill>
                  <a:srgbClr val="BFBEBF"/>
                </a:solidFill>
                <a:latin typeface="Almarai Bold"/>
                <a:ea typeface="Almarai Bold"/>
                <a:cs typeface="Almarai Bold"/>
                <a:sym typeface="Almarai Bold"/>
              </a:rPr>
              <a:t>Educational Value:</a:t>
            </a:r>
            <a:r>
              <a:rPr lang="en-US" sz="3287" b="1" u="sng">
                <a:solidFill>
                  <a:srgbClr val="FFFFFF"/>
                </a:solidFill>
                <a:latin typeface="Almarai Bold"/>
                <a:ea typeface="Almarai Bold"/>
                <a:cs typeface="Almarai Bold"/>
                <a:sym typeface="Almarai Bold"/>
              </a:rPr>
              <a:t> </a:t>
            </a:r>
            <a:r>
              <a:rPr lang="en-US" sz="3287">
                <a:solidFill>
                  <a:srgbClr val="FFFFFF"/>
                </a:solidFill>
                <a:latin typeface="Almarai"/>
                <a:ea typeface="Almarai"/>
                <a:cs typeface="Almarai"/>
                <a:sym typeface="Almarai"/>
              </a:rPr>
              <a:t>The model serves as an excellent educational tool, providing a clear visual representation of complex electro-mechanical principles, including slip and power flow reversal.</a:t>
            </a:r>
          </a:p>
          <a:p>
            <a:pPr algn="l">
              <a:lnSpc>
                <a:spcPts val="4537"/>
              </a:lnSpc>
            </a:pPr>
            <a:endParaRPr lang="en-US" sz="3287">
              <a:solidFill>
                <a:srgbClr val="FFFFFF"/>
              </a:solidFill>
              <a:latin typeface="Almarai"/>
              <a:ea typeface="Almarai"/>
              <a:cs typeface="Almarai"/>
              <a:sym typeface="Almara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9690195" y="3049848"/>
            <a:ext cx="7569105" cy="7868257"/>
            <a:chOff x="0" y="0"/>
            <a:chExt cx="6108573" cy="6350000"/>
          </a:xfrm>
        </p:grpSpPr>
        <p:sp>
          <p:nvSpPr>
            <p:cNvPr id="3" name="Freeform 3"/>
            <p:cNvSpPr/>
            <p:nvPr/>
          </p:nvSpPr>
          <p:spPr>
            <a:xfrm>
              <a:off x="0" y="0"/>
              <a:ext cx="6108573" cy="6350000"/>
            </a:xfrm>
            <a:custGeom>
              <a:avLst/>
              <a:gdLst/>
              <a:ahLst/>
              <a:cxnLst/>
              <a:rect l="l" t="t" r="r" b="b"/>
              <a:pathLst>
                <a:path w="6108573" h="6350000">
                  <a:moveTo>
                    <a:pt x="6108573" y="0"/>
                  </a:moveTo>
                  <a:lnTo>
                    <a:pt x="6108573" y="3295396"/>
                  </a:lnTo>
                  <a:cubicBezTo>
                    <a:pt x="6108573" y="4982464"/>
                    <a:pt x="4741164" y="6350000"/>
                    <a:pt x="3054350" y="6350000"/>
                  </a:cubicBezTo>
                  <a:cubicBezTo>
                    <a:pt x="1367536" y="6350000"/>
                    <a:pt x="0" y="4982464"/>
                    <a:pt x="0" y="3295523"/>
                  </a:cubicBezTo>
                  <a:lnTo>
                    <a:pt x="0" y="0"/>
                  </a:lnTo>
                  <a:lnTo>
                    <a:pt x="6108573" y="0"/>
                  </a:lnTo>
                  <a:close/>
                </a:path>
              </a:pathLst>
            </a:custGeom>
            <a:blipFill>
              <a:blip r:embed="rId2"/>
              <a:stretch>
                <a:fillRect l="-133175" r="-133175"/>
              </a:stretch>
            </a:blipFill>
          </p:spPr>
        </p:sp>
      </p:grpSp>
      <p:grpSp>
        <p:nvGrpSpPr>
          <p:cNvPr id="4" name="Group 4"/>
          <p:cNvGrpSpPr/>
          <p:nvPr/>
        </p:nvGrpSpPr>
        <p:grpSpPr>
          <a:xfrm>
            <a:off x="9690195" y="736179"/>
            <a:ext cx="7569105" cy="7868257"/>
            <a:chOff x="0" y="0"/>
            <a:chExt cx="6108573" cy="6350000"/>
          </a:xfrm>
        </p:grpSpPr>
        <p:sp>
          <p:nvSpPr>
            <p:cNvPr id="5" name="Freeform 5"/>
            <p:cNvSpPr/>
            <p:nvPr/>
          </p:nvSpPr>
          <p:spPr>
            <a:xfrm>
              <a:off x="0" y="0"/>
              <a:ext cx="6108573" cy="6350000"/>
            </a:xfrm>
            <a:custGeom>
              <a:avLst/>
              <a:gdLst/>
              <a:ahLst/>
              <a:cxnLst/>
              <a:rect l="l" t="t" r="r" b="b"/>
              <a:pathLst>
                <a:path w="6108573" h="6350000">
                  <a:moveTo>
                    <a:pt x="6108573" y="0"/>
                  </a:moveTo>
                  <a:lnTo>
                    <a:pt x="6108573" y="3295396"/>
                  </a:lnTo>
                  <a:cubicBezTo>
                    <a:pt x="6108573" y="4982464"/>
                    <a:pt x="4741164" y="6350000"/>
                    <a:pt x="3054350" y="6350000"/>
                  </a:cubicBezTo>
                  <a:cubicBezTo>
                    <a:pt x="1367536" y="6350000"/>
                    <a:pt x="0" y="4982464"/>
                    <a:pt x="0" y="3295523"/>
                  </a:cubicBezTo>
                  <a:lnTo>
                    <a:pt x="0" y="0"/>
                  </a:lnTo>
                  <a:lnTo>
                    <a:pt x="6108573" y="0"/>
                  </a:lnTo>
                  <a:close/>
                </a:path>
              </a:pathLst>
            </a:custGeom>
            <a:blipFill>
              <a:blip r:embed="rId2"/>
              <a:stretch>
                <a:fillRect l="-133175" r="-133175"/>
              </a:stretch>
            </a:blipFill>
          </p:spPr>
        </p:sp>
      </p:grpSp>
      <p:sp>
        <p:nvSpPr>
          <p:cNvPr id="6" name="TextBox 6"/>
          <p:cNvSpPr txBox="1"/>
          <p:nvPr/>
        </p:nvSpPr>
        <p:spPr>
          <a:xfrm>
            <a:off x="1301368" y="4919704"/>
            <a:ext cx="8547767" cy="2039020"/>
          </a:xfrm>
          <a:prstGeom prst="rect">
            <a:avLst/>
          </a:prstGeom>
        </p:spPr>
        <p:txBody>
          <a:bodyPr lIns="0" tIns="0" rIns="0" bIns="0" rtlCol="0" anchor="t">
            <a:spAutoFit/>
          </a:bodyPr>
          <a:lstStyle/>
          <a:p>
            <a:pPr algn="l">
              <a:lnSpc>
                <a:spcPts val="5344"/>
              </a:lnSpc>
            </a:pPr>
            <a:r>
              <a:rPr lang="en-US" sz="3873" b="1" dirty="0">
                <a:solidFill>
                  <a:srgbClr val="FFFFFF"/>
                </a:solidFill>
                <a:latin typeface="Almarai Bold"/>
                <a:ea typeface="Almarai Bold"/>
                <a:cs typeface="Almarai Bold"/>
                <a:sym typeface="Almarai Bold"/>
              </a:rPr>
              <a:t>SANJH YADAV - 23BEE1043</a:t>
            </a:r>
          </a:p>
          <a:p>
            <a:pPr algn="l">
              <a:lnSpc>
                <a:spcPts val="5344"/>
              </a:lnSpc>
            </a:pPr>
            <a:r>
              <a:rPr lang="en-US" sz="3873" b="1" dirty="0" smtClean="0">
                <a:solidFill>
                  <a:srgbClr val="FFFFFF"/>
                </a:solidFill>
                <a:latin typeface="Almarai Bold"/>
                <a:ea typeface="Almarai Bold"/>
                <a:cs typeface="Almarai Bold"/>
                <a:sym typeface="Almarai Bold"/>
              </a:rPr>
              <a:t>RITVIK ANISH - 23BEE1018</a:t>
            </a:r>
          </a:p>
          <a:p>
            <a:pPr algn="l">
              <a:lnSpc>
                <a:spcPts val="5344"/>
              </a:lnSpc>
            </a:pPr>
            <a:r>
              <a:rPr lang="en-US" sz="3873" b="1" dirty="0" smtClean="0">
                <a:solidFill>
                  <a:srgbClr val="FFFFFF"/>
                </a:solidFill>
                <a:latin typeface="Almarai Bold"/>
                <a:ea typeface="Almarai Bold"/>
                <a:cs typeface="Almarai Bold"/>
                <a:sym typeface="Almarai Bold"/>
              </a:rPr>
              <a:t>ADITHYAN D AJAY - 23BEE1009</a:t>
            </a:r>
            <a:endParaRPr lang="en-US" sz="3873" b="1" dirty="0">
              <a:solidFill>
                <a:srgbClr val="FFFFFF"/>
              </a:solidFill>
              <a:latin typeface="Almarai Bold"/>
              <a:ea typeface="Almarai Bold"/>
              <a:cs typeface="Almarai Bold"/>
              <a:sym typeface="Almarai Bold"/>
            </a:endParaRPr>
          </a:p>
        </p:txBody>
      </p:sp>
      <p:sp>
        <p:nvSpPr>
          <p:cNvPr id="7" name="TextBox 7"/>
          <p:cNvSpPr txBox="1"/>
          <p:nvPr/>
        </p:nvSpPr>
        <p:spPr>
          <a:xfrm>
            <a:off x="1301368" y="2897448"/>
            <a:ext cx="5735021" cy="1292893"/>
          </a:xfrm>
          <a:prstGeom prst="rect">
            <a:avLst/>
          </a:prstGeom>
        </p:spPr>
        <p:txBody>
          <a:bodyPr lIns="0" tIns="0" rIns="0" bIns="0" rtlCol="0" anchor="t">
            <a:spAutoFit/>
          </a:bodyPr>
          <a:lstStyle/>
          <a:p>
            <a:pPr marL="0" lvl="0" indent="0" algn="l">
              <a:lnSpc>
                <a:spcPts val="10323"/>
              </a:lnSpc>
            </a:pPr>
            <a:r>
              <a:rPr lang="en-US" sz="7373" b="1" spc="449">
                <a:solidFill>
                  <a:srgbClr val="17E3B2"/>
                </a:solidFill>
                <a:latin typeface="Almarai Bold"/>
                <a:ea typeface="Almarai Bold"/>
                <a:cs typeface="Almarai Bold"/>
                <a:sym typeface="Almarai Bold"/>
              </a:rPr>
              <a:t>TEAM</a:t>
            </a:r>
          </a:p>
        </p:txBody>
      </p:sp>
      <p:grpSp>
        <p:nvGrpSpPr>
          <p:cNvPr id="8" name="Group 8"/>
          <p:cNvGrpSpPr/>
          <p:nvPr/>
        </p:nvGrpSpPr>
        <p:grpSpPr>
          <a:xfrm>
            <a:off x="9690195" y="-62141"/>
            <a:ext cx="7569105" cy="7868257"/>
            <a:chOff x="0" y="0"/>
            <a:chExt cx="6108573" cy="6350000"/>
          </a:xfrm>
        </p:grpSpPr>
        <p:sp>
          <p:nvSpPr>
            <p:cNvPr id="9" name="Freeform 9"/>
            <p:cNvSpPr/>
            <p:nvPr/>
          </p:nvSpPr>
          <p:spPr>
            <a:xfrm>
              <a:off x="0" y="0"/>
              <a:ext cx="6108573" cy="6350000"/>
            </a:xfrm>
            <a:custGeom>
              <a:avLst/>
              <a:gdLst/>
              <a:ahLst/>
              <a:cxnLst/>
              <a:rect l="l" t="t" r="r" b="b"/>
              <a:pathLst>
                <a:path w="6108573" h="6350000">
                  <a:moveTo>
                    <a:pt x="6108573" y="0"/>
                  </a:moveTo>
                  <a:lnTo>
                    <a:pt x="6108573" y="3295396"/>
                  </a:lnTo>
                  <a:cubicBezTo>
                    <a:pt x="6108573" y="4982464"/>
                    <a:pt x="4741164" y="6350000"/>
                    <a:pt x="3054350" y="6350000"/>
                  </a:cubicBezTo>
                  <a:cubicBezTo>
                    <a:pt x="1367536" y="6350000"/>
                    <a:pt x="0" y="4982464"/>
                    <a:pt x="0" y="3295523"/>
                  </a:cubicBezTo>
                  <a:lnTo>
                    <a:pt x="0" y="0"/>
                  </a:lnTo>
                  <a:lnTo>
                    <a:pt x="6108573" y="0"/>
                  </a:lnTo>
                  <a:close/>
                </a:path>
              </a:pathLst>
            </a:custGeom>
            <a:blipFill>
              <a:blip r:embed="rId3"/>
              <a:stretch>
                <a:fillRect l="-28012" r="-28012"/>
              </a:stretch>
            </a:blipFill>
          </p:spPr>
        </p:sp>
      </p:grpSp>
      <p:grpSp>
        <p:nvGrpSpPr>
          <p:cNvPr id="10" name="Group 10"/>
          <p:cNvGrpSpPr/>
          <p:nvPr/>
        </p:nvGrpSpPr>
        <p:grpSpPr>
          <a:xfrm>
            <a:off x="9690195" y="1390043"/>
            <a:ext cx="7569105" cy="7868257"/>
            <a:chOff x="0" y="0"/>
            <a:chExt cx="6108573" cy="6350000"/>
          </a:xfrm>
        </p:grpSpPr>
        <p:sp>
          <p:nvSpPr>
            <p:cNvPr id="11" name="Freeform 11"/>
            <p:cNvSpPr/>
            <p:nvPr/>
          </p:nvSpPr>
          <p:spPr>
            <a:xfrm>
              <a:off x="0" y="0"/>
              <a:ext cx="6108573" cy="6350000"/>
            </a:xfrm>
            <a:custGeom>
              <a:avLst/>
              <a:gdLst/>
              <a:ahLst/>
              <a:cxnLst/>
              <a:rect l="l" t="t" r="r" b="b"/>
              <a:pathLst>
                <a:path w="6108573" h="6350000">
                  <a:moveTo>
                    <a:pt x="6108573" y="0"/>
                  </a:moveTo>
                  <a:lnTo>
                    <a:pt x="6108573" y="3295396"/>
                  </a:lnTo>
                  <a:cubicBezTo>
                    <a:pt x="6108573" y="4982464"/>
                    <a:pt x="4741164" y="6350000"/>
                    <a:pt x="3054350" y="6350000"/>
                  </a:cubicBezTo>
                  <a:cubicBezTo>
                    <a:pt x="1367536" y="6350000"/>
                    <a:pt x="0" y="4982464"/>
                    <a:pt x="0" y="3295523"/>
                  </a:cubicBezTo>
                  <a:lnTo>
                    <a:pt x="0" y="0"/>
                  </a:lnTo>
                  <a:lnTo>
                    <a:pt x="6108573" y="0"/>
                  </a:lnTo>
                  <a:close/>
                </a:path>
              </a:pathLst>
            </a:custGeom>
            <a:blipFill>
              <a:blip r:embed="rId2"/>
              <a:stretch>
                <a:fillRect l="-133175" r="-133175"/>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694</Words>
  <Application>Microsoft Office PowerPoint</Application>
  <PresentationFormat>Custom</PresentationFormat>
  <Paragraphs>71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Almarai</vt:lpstr>
      <vt:lpstr>Calibri</vt:lpstr>
      <vt:lpstr>Almarai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regen</dc:title>
  <cp:lastModifiedBy>Microsoft account</cp:lastModifiedBy>
  <cp:revision>2</cp:revision>
  <dcterms:created xsi:type="dcterms:W3CDTF">2006-08-16T00:00:00Z</dcterms:created>
  <dcterms:modified xsi:type="dcterms:W3CDTF">2026-04-09T09:39:21Z</dcterms:modified>
  <dc:identifier>DAGz0pvLkVY</dc:identifier>
</cp:coreProperties>
</file>